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Barlow Bold" charset="1" panose="00000800000000000000"/>
      <p:regular r:id="rId21"/>
    </p:embeddedFont>
    <p:embeddedFont>
      <p:font typeface="Barlow" charset="1" panose="00000500000000000000"/>
      <p:regular r:id="rId22"/>
    </p:embeddedFont>
    <p:embeddedFont>
      <p:font typeface="Garet" charset="1" panose="00000000000000000000"/>
      <p:regular r:id="rId23"/>
    </p:embeddedFont>
    <p:embeddedFont>
      <p:font typeface="Canva Sans" charset="1" panose="020B05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6.jpeg" Type="http://schemas.openxmlformats.org/officeDocument/2006/relationships/image"/><Relationship Id="rId4" Target="../media/image27.jpeg" Type="http://schemas.openxmlformats.org/officeDocument/2006/relationships/image"/><Relationship Id="rId5" Target="../media/image28.jpe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B6BC"/>
        </a:solidFill>
      </p:bgPr>
    </p:bg>
    <p:spTree>
      <p:nvGrpSpPr>
        <p:cNvPr id="1" name=""/>
        <p:cNvGrpSpPr/>
        <p:nvPr/>
      </p:nvGrpSpPr>
      <p:grpSpPr>
        <a:xfrm>
          <a:off x="0" y="0"/>
          <a:ext cx="0" cy="0"/>
          <a:chOff x="0" y="0"/>
          <a:chExt cx="0" cy="0"/>
        </a:xfrm>
      </p:grpSpPr>
      <p:sp>
        <p:nvSpPr>
          <p:cNvPr name="Freeform 2" id="2"/>
          <p:cNvSpPr/>
          <p:nvPr/>
        </p:nvSpPr>
        <p:spPr>
          <a:xfrm flipH="false" flipV="false" rot="0">
            <a:off x="0" y="-552450"/>
            <a:ext cx="9601200" cy="11544300"/>
          </a:xfrm>
          <a:custGeom>
            <a:avLst/>
            <a:gdLst/>
            <a:ahLst/>
            <a:cxnLst/>
            <a:rect r="r" b="b" t="t" l="l"/>
            <a:pathLst>
              <a:path h="11544300" w="9601200">
                <a:moveTo>
                  <a:pt x="0" y="0"/>
                </a:moveTo>
                <a:lnTo>
                  <a:pt x="9601200" y="0"/>
                </a:lnTo>
                <a:lnTo>
                  <a:pt x="9601200" y="11544300"/>
                </a:lnTo>
                <a:lnTo>
                  <a:pt x="0" y="11544300"/>
                </a:lnTo>
                <a:lnTo>
                  <a:pt x="0" y="0"/>
                </a:lnTo>
                <a:close/>
              </a:path>
            </a:pathLst>
          </a:custGeom>
          <a:blipFill>
            <a:blip r:embed="rId2">
              <a:extLst>
                <a:ext uri="{96DAC541-7B7A-43D3-8B79-37D633B846F1}">
                  <asvg:svgBlip xmlns:asvg="http://schemas.microsoft.com/office/drawing/2016/SVG/main" r:embed="rId3"/>
                </a:ext>
              </a:extLst>
            </a:blip>
            <a:stretch>
              <a:fillRect l="-10119" t="0" r="-10119" b="0"/>
            </a:stretch>
          </a:blipFill>
        </p:spPr>
      </p:sp>
      <p:grpSp>
        <p:nvGrpSpPr>
          <p:cNvPr name="Group 3" id="3"/>
          <p:cNvGrpSpPr/>
          <p:nvPr/>
        </p:nvGrpSpPr>
        <p:grpSpPr>
          <a:xfrm rot="0">
            <a:off x="1028700" y="3806746"/>
            <a:ext cx="6595468" cy="3824451"/>
            <a:chOff x="0" y="0"/>
            <a:chExt cx="8793957" cy="5099268"/>
          </a:xfrm>
        </p:grpSpPr>
        <p:sp>
          <p:nvSpPr>
            <p:cNvPr name="Freeform 4" id="4"/>
            <p:cNvSpPr/>
            <p:nvPr/>
          </p:nvSpPr>
          <p:spPr>
            <a:xfrm flipH="false" flipV="false" rot="0">
              <a:off x="0" y="0"/>
              <a:ext cx="8793957" cy="5099268"/>
            </a:xfrm>
            <a:custGeom>
              <a:avLst/>
              <a:gdLst/>
              <a:ahLst/>
              <a:cxnLst/>
              <a:rect r="r" b="b" t="t" l="l"/>
              <a:pathLst>
                <a:path h="5099268" w="8793957">
                  <a:moveTo>
                    <a:pt x="0" y="0"/>
                  </a:moveTo>
                  <a:lnTo>
                    <a:pt x="8793957" y="0"/>
                  </a:lnTo>
                  <a:lnTo>
                    <a:pt x="8793957" y="5099268"/>
                  </a:lnTo>
                  <a:lnTo>
                    <a:pt x="0" y="5099268"/>
                  </a:lnTo>
                  <a:close/>
                </a:path>
              </a:pathLst>
            </a:custGeom>
            <a:solidFill>
              <a:srgbClr val="000000">
                <a:alpha val="0"/>
              </a:srgbClr>
            </a:solidFill>
          </p:spPr>
        </p:sp>
        <p:sp>
          <p:nvSpPr>
            <p:cNvPr name="TextBox 5" id="5"/>
            <p:cNvSpPr txBox="true"/>
            <p:nvPr/>
          </p:nvSpPr>
          <p:spPr>
            <a:xfrm>
              <a:off x="0" y="76200"/>
              <a:ext cx="8793957" cy="5023068"/>
            </a:xfrm>
            <a:prstGeom prst="rect">
              <a:avLst/>
            </a:prstGeom>
          </p:spPr>
          <p:txBody>
            <a:bodyPr anchor="t" rtlCol="false" tIns="0" lIns="0" bIns="0" rIns="0"/>
            <a:lstStyle/>
            <a:p>
              <a:pPr algn="l">
                <a:lnSpc>
                  <a:spcPts val="4700"/>
                </a:lnSpc>
              </a:pPr>
              <a:r>
                <a:rPr lang="en-US" sz="4700" b="true">
                  <a:solidFill>
                    <a:srgbClr val="000000"/>
                  </a:solidFill>
                  <a:latin typeface="Barlow Bold"/>
                  <a:ea typeface="Barlow Bold"/>
                  <a:cs typeface="Barlow Bold"/>
                  <a:sym typeface="Barlow Bold"/>
                </a:rPr>
                <a:t>AgriMarket AI</a:t>
              </a:r>
            </a:p>
            <a:p>
              <a:pPr algn="l">
                <a:lnSpc>
                  <a:spcPts val="4700"/>
                </a:lnSpc>
              </a:pPr>
              <a:r>
                <a:rPr lang="en-US" sz="4700" b="true">
                  <a:solidFill>
                    <a:srgbClr val="000000"/>
                  </a:solidFill>
                  <a:latin typeface="Barlow Bold"/>
                  <a:ea typeface="Barlow Bold"/>
                  <a:cs typeface="Barlow Bold"/>
                  <a:sym typeface="Barlow Bold"/>
                </a:rPr>
                <a:t>"Empowering African Farmers with Smart Market Access"</a:t>
              </a:r>
            </a:p>
            <a:p>
              <a:pPr algn="l">
                <a:lnSpc>
                  <a:spcPts val="4700"/>
                </a:lnSpc>
              </a:pPr>
            </a:p>
            <a:p>
              <a:pPr algn="l">
                <a:lnSpc>
                  <a:spcPts val="4700"/>
                </a:lnSpc>
              </a:pPr>
              <a:r>
                <a:rPr lang="en-US" sz="4700" b="true">
                  <a:solidFill>
                    <a:srgbClr val="000000"/>
                  </a:solidFill>
                  <a:latin typeface="Barlow Bold"/>
                  <a:ea typeface="Barlow Bold"/>
                  <a:cs typeface="Barlow Bold"/>
                  <a:sym typeface="Barlow Bold"/>
                </a:rPr>
                <a:t>By Emmanuel Kimaro</a:t>
              </a:r>
            </a:p>
          </p:txBody>
        </p:sp>
      </p:grpSp>
      <p:grpSp>
        <p:nvGrpSpPr>
          <p:cNvPr name="Group 6" id="6"/>
          <p:cNvGrpSpPr/>
          <p:nvPr/>
        </p:nvGrpSpPr>
        <p:grpSpPr>
          <a:xfrm rot="0">
            <a:off x="629257" y="9576600"/>
            <a:ext cx="798886" cy="347980"/>
            <a:chOff x="0" y="0"/>
            <a:chExt cx="1065181" cy="463973"/>
          </a:xfrm>
        </p:grpSpPr>
        <p:sp>
          <p:nvSpPr>
            <p:cNvPr name="Freeform 7" id="7"/>
            <p:cNvSpPr/>
            <p:nvPr/>
          </p:nvSpPr>
          <p:spPr>
            <a:xfrm flipH="false" flipV="false" rot="0">
              <a:off x="0" y="0"/>
              <a:ext cx="1065181" cy="463973"/>
            </a:xfrm>
            <a:custGeom>
              <a:avLst/>
              <a:gdLst/>
              <a:ahLst/>
              <a:cxnLst/>
              <a:rect r="r" b="b" t="t" l="l"/>
              <a:pathLst>
                <a:path h="463973" w="1065181">
                  <a:moveTo>
                    <a:pt x="0" y="0"/>
                  </a:moveTo>
                  <a:lnTo>
                    <a:pt x="1065181" y="0"/>
                  </a:lnTo>
                  <a:lnTo>
                    <a:pt x="1065181" y="463973"/>
                  </a:lnTo>
                  <a:lnTo>
                    <a:pt x="0" y="463973"/>
                  </a:lnTo>
                  <a:close/>
                </a:path>
              </a:pathLst>
            </a:custGeom>
            <a:solidFill>
              <a:srgbClr val="000000">
                <a:alpha val="0"/>
              </a:srgbClr>
            </a:solidFill>
          </p:spPr>
        </p:sp>
        <p:sp>
          <p:nvSpPr>
            <p:cNvPr name="TextBox 8" id="8"/>
            <p:cNvSpPr txBox="true"/>
            <p:nvPr/>
          </p:nvSpPr>
          <p:spPr>
            <a:xfrm>
              <a:off x="0" y="-19050"/>
              <a:ext cx="1065181" cy="483023"/>
            </a:xfrm>
            <a:prstGeom prst="rect">
              <a:avLst/>
            </a:prstGeom>
          </p:spPr>
          <p:txBody>
            <a:bodyPr anchor="t" rtlCol="false" tIns="0" lIns="0" bIns="0" rIns="0"/>
            <a:lstStyle/>
            <a:p>
              <a:pPr algn="l">
                <a:lnSpc>
                  <a:spcPts val="2749"/>
                </a:lnSpc>
              </a:pPr>
              <a:r>
                <a:rPr lang="en-US" sz="2199" b="true">
                  <a:solidFill>
                    <a:srgbClr val="90113E"/>
                  </a:solidFill>
                  <a:latin typeface="Barlow Bold"/>
                  <a:ea typeface="Barlow Bold"/>
                  <a:cs typeface="Barlow Bold"/>
                  <a:sym typeface="Barlow Bold"/>
                </a:rPr>
                <a:t>01</a:t>
              </a:r>
            </a:p>
          </p:txBody>
        </p:sp>
      </p:grpSp>
      <p:grpSp>
        <p:nvGrpSpPr>
          <p:cNvPr name="Group 9" id="9"/>
          <p:cNvGrpSpPr/>
          <p:nvPr/>
        </p:nvGrpSpPr>
        <p:grpSpPr>
          <a:xfrm rot="0">
            <a:off x="11110869" y="1593957"/>
            <a:ext cx="5621312" cy="7251486"/>
            <a:chOff x="0" y="0"/>
            <a:chExt cx="7495083" cy="9668648"/>
          </a:xfrm>
        </p:grpSpPr>
        <p:sp>
          <p:nvSpPr>
            <p:cNvPr name="Freeform 10" id="10"/>
            <p:cNvSpPr/>
            <p:nvPr/>
          </p:nvSpPr>
          <p:spPr>
            <a:xfrm flipH="false" flipV="false" rot="0">
              <a:off x="0" y="0"/>
              <a:ext cx="7495032" cy="9668637"/>
            </a:xfrm>
            <a:custGeom>
              <a:avLst/>
              <a:gdLst/>
              <a:ahLst/>
              <a:cxnLst/>
              <a:rect r="r" b="b" t="t" l="l"/>
              <a:pathLst>
                <a:path h="9668637" w="7495032">
                  <a:moveTo>
                    <a:pt x="0" y="0"/>
                  </a:moveTo>
                  <a:lnTo>
                    <a:pt x="7495032" y="0"/>
                  </a:lnTo>
                  <a:lnTo>
                    <a:pt x="7495032" y="9668637"/>
                  </a:lnTo>
                  <a:lnTo>
                    <a:pt x="0" y="9668637"/>
                  </a:lnTo>
                  <a:lnTo>
                    <a:pt x="0" y="0"/>
                  </a:lnTo>
                  <a:close/>
                </a:path>
              </a:pathLst>
            </a:custGeom>
            <a:blipFill>
              <a:blip r:embed="rId4"/>
              <a:stretch>
                <a:fillRect l="-46750" t="0" r="-46750" b="0"/>
              </a:stretch>
            </a:blipFill>
          </p:spPr>
        </p:sp>
      </p:grpSp>
      <p:grpSp>
        <p:nvGrpSpPr>
          <p:cNvPr name="Group 11" id="11"/>
          <p:cNvGrpSpPr/>
          <p:nvPr/>
        </p:nvGrpSpPr>
        <p:grpSpPr>
          <a:xfrm rot="0">
            <a:off x="303663" y="143884"/>
            <a:ext cx="1837509" cy="1837509"/>
            <a:chOff x="0" y="0"/>
            <a:chExt cx="2450012" cy="2450012"/>
          </a:xfrm>
        </p:grpSpPr>
        <p:sp>
          <p:nvSpPr>
            <p:cNvPr name="Freeform 12" id="12"/>
            <p:cNvSpPr/>
            <p:nvPr/>
          </p:nvSpPr>
          <p:spPr>
            <a:xfrm flipH="false" flipV="false" rot="0">
              <a:off x="0" y="0"/>
              <a:ext cx="2449957" cy="2449957"/>
            </a:xfrm>
            <a:custGeom>
              <a:avLst/>
              <a:gdLst/>
              <a:ahLst/>
              <a:cxnLst/>
              <a:rect r="r" b="b" t="t" l="l"/>
              <a:pathLst>
                <a:path h="2449957" w="2449957">
                  <a:moveTo>
                    <a:pt x="0" y="0"/>
                  </a:moveTo>
                  <a:lnTo>
                    <a:pt x="2449957" y="0"/>
                  </a:lnTo>
                  <a:lnTo>
                    <a:pt x="2449957" y="2449957"/>
                  </a:lnTo>
                  <a:lnTo>
                    <a:pt x="0" y="2449957"/>
                  </a:lnTo>
                  <a:lnTo>
                    <a:pt x="0" y="0"/>
                  </a:lnTo>
                  <a:close/>
                </a:path>
              </a:pathLst>
            </a:custGeom>
            <a:blipFill>
              <a:blip r:embed="rId5"/>
              <a:stretch>
                <a:fillRect l="0" t="0" r="-2" b="-2"/>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258270" y="-349930"/>
            <a:ext cx="7708159" cy="10986860"/>
            <a:chOff x="0" y="0"/>
            <a:chExt cx="10277545" cy="14649147"/>
          </a:xfrm>
        </p:grpSpPr>
        <p:sp>
          <p:nvSpPr>
            <p:cNvPr name="Freeform 3" id="3"/>
            <p:cNvSpPr/>
            <p:nvPr/>
          </p:nvSpPr>
          <p:spPr>
            <a:xfrm flipH="false" flipV="false" rot="0">
              <a:off x="0" y="0"/>
              <a:ext cx="10277602" cy="14649196"/>
            </a:xfrm>
            <a:custGeom>
              <a:avLst/>
              <a:gdLst/>
              <a:ahLst/>
              <a:cxnLst/>
              <a:rect r="r" b="b" t="t" l="l"/>
              <a:pathLst>
                <a:path h="14649196" w="10277602">
                  <a:moveTo>
                    <a:pt x="0" y="0"/>
                  </a:moveTo>
                  <a:lnTo>
                    <a:pt x="10277602" y="0"/>
                  </a:lnTo>
                  <a:lnTo>
                    <a:pt x="10277602" y="14649196"/>
                  </a:lnTo>
                  <a:lnTo>
                    <a:pt x="0" y="14649196"/>
                  </a:lnTo>
                  <a:close/>
                </a:path>
              </a:pathLst>
            </a:custGeom>
            <a:solidFill>
              <a:srgbClr val="0BB6BC"/>
            </a:solidFill>
          </p:spPr>
        </p:sp>
      </p:grpSp>
      <p:grpSp>
        <p:nvGrpSpPr>
          <p:cNvPr name="Group 4" id="4"/>
          <p:cNvGrpSpPr/>
          <p:nvPr/>
        </p:nvGrpSpPr>
        <p:grpSpPr>
          <a:xfrm rot="0">
            <a:off x="1028700" y="3316436"/>
            <a:ext cx="7363108" cy="5453668"/>
            <a:chOff x="0" y="0"/>
            <a:chExt cx="9817477" cy="7271558"/>
          </a:xfrm>
        </p:grpSpPr>
        <p:sp>
          <p:nvSpPr>
            <p:cNvPr name="Freeform 5" id="5"/>
            <p:cNvSpPr/>
            <p:nvPr/>
          </p:nvSpPr>
          <p:spPr>
            <a:xfrm flipH="false" flipV="false" rot="0">
              <a:off x="0" y="0"/>
              <a:ext cx="9817477" cy="7271558"/>
            </a:xfrm>
            <a:custGeom>
              <a:avLst/>
              <a:gdLst/>
              <a:ahLst/>
              <a:cxnLst/>
              <a:rect r="r" b="b" t="t" l="l"/>
              <a:pathLst>
                <a:path h="7271558" w="9817477">
                  <a:moveTo>
                    <a:pt x="0" y="0"/>
                  </a:moveTo>
                  <a:lnTo>
                    <a:pt x="9817477" y="0"/>
                  </a:lnTo>
                  <a:lnTo>
                    <a:pt x="9817477" y="7271558"/>
                  </a:lnTo>
                  <a:lnTo>
                    <a:pt x="0" y="7271558"/>
                  </a:lnTo>
                  <a:close/>
                </a:path>
              </a:pathLst>
            </a:custGeom>
            <a:solidFill>
              <a:srgbClr val="000000">
                <a:alpha val="0"/>
              </a:srgbClr>
            </a:solidFill>
          </p:spPr>
        </p:sp>
        <p:sp>
          <p:nvSpPr>
            <p:cNvPr name="TextBox 6" id="6"/>
            <p:cNvSpPr txBox="true"/>
            <p:nvPr/>
          </p:nvSpPr>
          <p:spPr>
            <a:xfrm>
              <a:off x="0" y="0"/>
              <a:ext cx="9817477" cy="7271558"/>
            </a:xfrm>
            <a:prstGeom prst="rect">
              <a:avLst/>
            </a:prstGeom>
          </p:spPr>
          <p:txBody>
            <a:bodyPr anchor="t" rtlCol="false" tIns="0" lIns="0" bIns="0" rIns="0"/>
            <a:lstStyle/>
            <a:p>
              <a:pPr algn="l" marL="690936" indent="-345468" lvl="1">
                <a:lnSpc>
                  <a:spcPts val="3840"/>
                </a:lnSpc>
                <a:buFont typeface="Arial"/>
                <a:buChar char="•"/>
              </a:pPr>
              <a:r>
                <a:rPr lang="en-US" b="true" sz="3200">
                  <a:solidFill>
                    <a:srgbClr val="0BB6BC"/>
                  </a:solidFill>
                  <a:latin typeface="Barlow Bold"/>
                  <a:ea typeface="Barlow Bold"/>
                  <a:cs typeface="Barlow Bold"/>
                  <a:sym typeface="Barlow Bold"/>
                </a:rPr>
                <a:t>Smallholder farmers lose 35% of produce to poor market access and logistics.</a:t>
              </a:r>
            </a:p>
            <a:p>
              <a:pPr algn="l" marL="690936" indent="-345468" lvl="1">
                <a:lnSpc>
                  <a:spcPts val="3840"/>
                </a:lnSpc>
                <a:buFont typeface="Arial"/>
                <a:buChar char="•"/>
              </a:pPr>
              <a:r>
                <a:rPr lang="en-US" b="true" sz="3200">
                  <a:solidFill>
                    <a:srgbClr val="0BB6BC"/>
                  </a:solidFill>
                  <a:latin typeface="Barlow Bold"/>
                  <a:ea typeface="Barlow Bold"/>
                  <a:cs typeface="Barlow Bold"/>
                  <a:sym typeface="Barlow Bold"/>
                </a:rPr>
                <a:t>Middlemen take up to 60% of the farmer’s final selling price.</a:t>
              </a:r>
            </a:p>
            <a:p>
              <a:pPr algn="l" marL="690936" indent="-345468" lvl="1">
                <a:lnSpc>
                  <a:spcPts val="3840"/>
                </a:lnSpc>
                <a:buFont typeface="Arial"/>
                <a:buChar char="•"/>
              </a:pPr>
              <a:r>
                <a:rPr lang="en-US" b="true" sz="3200">
                  <a:solidFill>
                    <a:srgbClr val="0BB6BC"/>
                  </a:solidFill>
                  <a:latin typeface="Barlow Bold"/>
                  <a:ea typeface="Barlow Bold"/>
                  <a:cs typeface="Barlow Bold"/>
                  <a:sym typeface="Barlow Bold"/>
                </a:rPr>
                <a:t>Lack of market price transparency keeps farmers in poverty.</a:t>
              </a:r>
            </a:p>
            <a:p>
              <a:pPr algn="l" marL="690936" indent="-345468" lvl="1">
                <a:lnSpc>
                  <a:spcPts val="3840"/>
                </a:lnSpc>
                <a:buFont typeface="Arial"/>
                <a:buChar char="•"/>
              </a:pPr>
              <a:r>
                <a:rPr lang="en-US" b="true" sz="3200">
                  <a:solidFill>
                    <a:srgbClr val="0BB6BC"/>
                  </a:solidFill>
                  <a:latin typeface="Barlow Bold"/>
                  <a:ea typeface="Barlow Bold"/>
                  <a:cs typeface="Barlow Bold"/>
                  <a:sym typeface="Barlow Bold"/>
                </a:rPr>
                <a:t>Climate change impacts require better forecasting and planning tools.</a:t>
              </a:r>
            </a:p>
            <a:p>
              <a:pPr algn="l">
                <a:lnSpc>
                  <a:spcPts val="3840"/>
                </a:lnSpc>
              </a:pPr>
            </a:p>
          </p:txBody>
        </p:sp>
      </p:grpSp>
      <p:grpSp>
        <p:nvGrpSpPr>
          <p:cNvPr name="Group 7" id="7"/>
          <p:cNvGrpSpPr/>
          <p:nvPr/>
        </p:nvGrpSpPr>
        <p:grpSpPr>
          <a:xfrm rot="0">
            <a:off x="1357649" y="2160320"/>
            <a:ext cx="7363108" cy="590770"/>
            <a:chOff x="0" y="0"/>
            <a:chExt cx="9817477" cy="787693"/>
          </a:xfrm>
        </p:grpSpPr>
        <p:sp>
          <p:nvSpPr>
            <p:cNvPr name="Freeform 8" id="8"/>
            <p:cNvSpPr/>
            <p:nvPr/>
          </p:nvSpPr>
          <p:spPr>
            <a:xfrm flipH="false" flipV="false" rot="0">
              <a:off x="0" y="0"/>
              <a:ext cx="9817477" cy="787693"/>
            </a:xfrm>
            <a:custGeom>
              <a:avLst/>
              <a:gdLst/>
              <a:ahLst/>
              <a:cxnLst/>
              <a:rect r="r" b="b" t="t" l="l"/>
              <a:pathLst>
                <a:path h="787693" w="9817477">
                  <a:moveTo>
                    <a:pt x="0" y="0"/>
                  </a:moveTo>
                  <a:lnTo>
                    <a:pt x="9817477" y="0"/>
                  </a:lnTo>
                  <a:lnTo>
                    <a:pt x="9817477" y="787693"/>
                  </a:lnTo>
                  <a:lnTo>
                    <a:pt x="0" y="787693"/>
                  </a:lnTo>
                  <a:close/>
                </a:path>
              </a:pathLst>
            </a:custGeom>
            <a:solidFill>
              <a:srgbClr val="000000">
                <a:alpha val="0"/>
              </a:srgbClr>
            </a:solidFill>
          </p:spPr>
        </p:sp>
        <p:sp>
          <p:nvSpPr>
            <p:cNvPr name="TextBox 9" id="9"/>
            <p:cNvSpPr txBox="true"/>
            <p:nvPr/>
          </p:nvSpPr>
          <p:spPr>
            <a:xfrm>
              <a:off x="0" y="-66675"/>
              <a:ext cx="9817477" cy="854368"/>
            </a:xfrm>
            <a:prstGeom prst="rect">
              <a:avLst/>
            </a:prstGeom>
          </p:spPr>
          <p:txBody>
            <a:bodyPr anchor="t" rtlCol="false" tIns="0" lIns="0" bIns="0" rIns="0"/>
            <a:lstStyle/>
            <a:p>
              <a:pPr algn="l">
                <a:lnSpc>
                  <a:spcPts val="4479"/>
                </a:lnSpc>
              </a:pPr>
              <a:r>
                <a:rPr lang="en-US" sz="3199" b="true">
                  <a:solidFill>
                    <a:srgbClr val="000000"/>
                  </a:solidFill>
                  <a:latin typeface="Barlow Bold"/>
                  <a:ea typeface="Barlow Bold"/>
                  <a:cs typeface="Barlow Bold"/>
                  <a:sym typeface="Barlow Bold"/>
                </a:rPr>
                <a:t>Problem Statement</a:t>
              </a:r>
              <a:r>
                <a:rPr lang="en-US" sz="3199" b="true">
                  <a:solidFill>
                    <a:srgbClr val="000000"/>
                  </a:solidFill>
                  <a:latin typeface="Barlow Bold"/>
                  <a:ea typeface="Barlow Bold"/>
                  <a:cs typeface="Barlow Bold"/>
                  <a:sym typeface="Barlow Bold"/>
                </a:rPr>
                <a:t> </a:t>
              </a:r>
            </a:p>
          </p:txBody>
        </p:sp>
      </p:grpSp>
      <p:grpSp>
        <p:nvGrpSpPr>
          <p:cNvPr name="Group 10" id="10"/>
          <p:cNvGrpSpPr/>
          <p:nvPr/>
        </p:nvGrpSpPr>
        <p:grpSpPr>
          <a:xfrm rot="0">
            <a:off x="10663681" y="1028700"/>
            <a:ext cx="6595619" cy="8229600"/>
            <a:chOff x="0" y="0"/>
            <a:chExt cx="8794159" cy="10972800"/>
          </a:xfrm>
        </p:grpSpPr>
        <p:sp>
          <p:nvSpPr>
            <p:cNvPr name="Freeform 11" id="11"/>
            <p:cNvSpPr/>
            <p:nvPr/>
          </p:nvSpPr>
          <p:spPr>
            <a:xfrm flipH="false" flipV="false" rot="0">
              <a:off x="0" y="0"/>
              <a:ext cx="8794115" cy="10972800"/>
            </a:xfrm>
            <a:custGeom>
              <a:avLst/>
              <a:gdLst/>
              <a:ahLst/>
              <a:cxnLst/>
              <a:rect r="r" b="b" t="t" l="l"/>
              <a:pathLst>
                <a:path h="10972800" w="8794115">
                  <a:moveTo>
                    <a:pt x="0" y="0"/>
                  </a:moveTo>
                  <a:lnTo>
                    <a:pt x="8794115" y="0"/>
                  </a:lnTo>
                  <a:lnTo>
                    <a:pt x="8794115" y="10972800"/>
                  </a:lnTo>
                  <a:lnTo>
                    <a:pt x="0" y="10972800"/>
                  </a:lnTo>
                  <a:lnTo>
                    <a:pt x="0" y="0"/>
                  </a:lnTo>
                  <a:close/>
                </a:path>
              </a:pathLst>
            </a:custGeom>
            <a:blipFill>
              <a:blip r:embed="rId2"/>
              <a:stretch>
                <a:fillRect l="0" t="-10090" r="0" b="-10090"/>
              </a:stretch>
            </a:blipFill>
          </p:spPr>
        </p:sp>
      </p:grpSp>
      <p:grpSp>
        <p:nvGrpSpPr>
          <p:cNvPr name="Group 12" id="12"/>
          <p:cNvGrpSpPr/>
          <p:nvPr/>
        </p:nvGrpSpPr>
        <p:grpSpPr>
          <a:xfrm rot="0">
            <a:off x="17050357" y="9484941"/>
            <a:ext cx="798886" cy="347980"/>
            <a:chOff x="0" y="0"/>
            <a:chExt cx="1065181" cy="463973"/>
          </a:xfrm>
        </p:grpSpPr>
        <p:sp>
          <p:nvSpPr>
            <p:cNvPr name="Freeform 13" id="13"/>
            <p:cNvSpPr/>
            <p:nvPr/>
          </p:nvSpPr>
          <p:spPr>
            <a:xfrm flipH="false" flipV="false" rot="0">
              <a:off x="0" y="0"/>
              <a:ext cx="1065181" cy="463973"/>
            </a:xfrm>
            <a:custGeom>
              <a:avLst/>
              <a:gdLst/>
              <a:ahLst/>
              <a:cxnLst/>
              <a:rect r="r" b="b" t="t" l="l"/>
              <a:pathLst>
                <a:path h="463973" w="1065181">
                  <a:moveTo>
                    <a:pt x="0" y="0"/>
                  </a:moveTo>
                  <a:lnTo>
                    <a:pt x="1065181" y="0"/>
                  </a:lnTo>
                  <a:lnTo>
                    <a:pt x="1065181" y="463973"/>
                  </a:lnTo>
                  <a:lnTo>
                    <a:pt x="0" y="463973"/>
                  </a:lnTo>
                  <a:close/>
                </a:path>
              </a:pathLst>
            </a:custGeom>
            <a:solidFill>
              <a:srgbClr val="000000">
                <a:alpha val="0"/>
              </a:srgbClr>
            </a:solidFill>
          </p:spPr>
        </p:sp>
        <p:sp>
          <p:nvSpPr>
            <p:cNvPr name="TextBox 14" id="14"/>
            <p:cNvSpPr txBox="true"/>
            <p:nvPr/>
          </p:nvSpPr>
          <p:spPr>
            <a:xfrm>
              <a:off x="0" y="-19050"/>
              <a:ext cx="1065181" cy="483023"/>
            </a:xfrm>
            <a:prstGeom prst="rect">
              <a:avLst/>
            </a:prstGeom>
          </p:spPr>
          <p:txBody>
            <a:bodyPr anchor="t" rtlCol="false" tIns="0" lIns="0" bIns="0" rIns="0"/>
            <a:lstStyle/>
            <a:p>
              <a:pPr algn="r">
                <a:lnSpc>
                  <a:spcPts val="2749"/>
                </a:lnSpc>
              </a:pPr>
              <a:r>
                <a:rPr lang="en-US" sz="2199" b="true">
                  <a:solidFill>
                    <a:srgbClr val="90113E"/>
                  </a:solidFill>
                  <a:latin typeface="Barlow Bold"/>
                  <a:ea typeface="Barlow Bold"/>
                  <a:cs typeface="Barlow Bold"/>
                  <a:sym typeface="Barlow Bold"/>
                </a:rPr>
                <a:t>10</a:t>
              </a:r>
            </a:p>
          </p:txBody>
        </p:sp>
      </p:grpSp>
      <p:sp>
        <p:nvSpPr>
          <p:cNvPr name="Freeform 15" id="15"/>
          <p:cNvSpPr/>
          <p:nvPr/>
        </p:nvSpPr>
        <p:spPr>
          <a:xfrm flipH="false" flipV="false" rot="0">
            <a:off x="629257" y="893789"/>
            <a:ext cx="1079292" cy="269823"/>
          </a:xfrm>
          <a:custGeom>
            <a:avLst/>
            <a:gdLst/>
            <a:ahLst/>
            <a:cxnLst/>
            <a:rect r="r" b="b" t="t" l="l"/>
            <a:pathLst>
              <a:path h="269823" w="1079292">
                <a:moveTo>
                  <a:pt x="0" y="0"/>
                </a:moveTo>
                <a:lnTo>
                  <a:pt x="1079292" y="0"/>
                </a:lnTo>
                <a:lnTo>
                  <a:pt x="1079292" y="269823"/>
                </a:lnTo>
                <a:lnTo>
                  <a:pt x="0" y="269823"/>
                </a:lnTo>
                <a:lnTo>
                  <a:pt x="0" y="0"/>
                </a:lnTo>
                <a:close/>
              </a:path>
            </a:pathLst>
          </a:custGeom>
          <a:blipFill>
            <a:blip r:embed="rId3">
              <a:extLst>
                <a:ext uri="{96DAC541-7B7A-43D3-8B79-37D633B846F1}">
                  <asvg:svgBlip xmlns:asvg="http://schemas.microsoft.com/office/drawing/2016/SVG/main" r:embed="rId4"/>
                </a:ext>
              </a:extLst>
            </a:blip>
            <a:stretch>
              <a:fillRect l="0" t="-877" r="0" b="-877"/>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8444798"/>
            <a:ext cx="1059192" cy="1059192"/>
            <a:chOff x="0" y="0"/>
            <a:chExt cx="1412256" cy="1412256"/>
          </a:xfrm>
        </p:grpSpPr>
        <p:sp>
          <p:nvSpPr>
            <p:cNvPr name="Freeform 3" id="3"/>
            <p:cNvSpPr/>
            <p:nvPr/>
          </p:nvSpPr>
          <p:spPr>
            <a:xfrm flipH="false" flipV="false" rot="0">
              <a:off x="0" y="0"/>
              <a:ext cx="1412240" cy="1412240"/>
            </a:xfrm>
            <a:custGeom>
              <a:avLst/>
              <a:gdLst/>
              <a:ahLst/>
              <a:cxnLst/>
              <a:rect r="r" b="b" t="t" l="l"/>
              <a:pathLst>
                <a:path h="1412240" w="1412240">
                  <a:moveTo>
                    <a:pt x="706120" y="0"/>
                  </a:moveTo>
                  <a:cubicBezTo>
                    <a:pt x="316103" y="0"/>
                    <a:pt x="0" y="316103"/>
                    <a:pt x="0" y="706120"/>
                  </a:cubicBezTo>
                  <a:cubicBezTo>
                    <a:pt x="0" y="1096137"/>
                    <a:pt x="316103" y="1412240"/>
                    <a:pt x="706120" y="1412240"/>
                  </a:cubicBezTo>
                  <a:cubicBezTo>
                    <a:pt x="1096137" y="1412240"/>
                    <a:pt x="1412240" y="1096137"/>
                    <a:pt x="1412240" y="706120"/>
                  </a:cubicBezTo>
                  <a:cubicBezTo>
                    <a:pt x="1412240" y="316103"/>
                    <a:pt x="1096137" y="0"/>
                    <a:pt x="706120" y="0"/>
                  </a:cubicBezTo>
                  <a:close/>
                </a:path>
              </a:pathLst>
            </a:custGeom>
            <a:solidFill>
              <a:srgbClr val="90113E"/>
            </a:solidFill>
          </p:spPr>
        </p:sp>
      </p:grpSp>
      <p:sp>
        <p:nvSpPr>
          <p:cNvPr name="Freeform 4" id="4"/>
          <p:cNvSpPr/>
          <p:nvPr/>
        </p:nvSpPr>
        <p:spPr>
          <a:xfrm flipH="false" flipV="false" rot="0">
            <a:off x="1384419" y="8852680"/>
            <a:ext cx="347753" cy="243427"/>
          </a:xfrm>
          <a:custGeom>
            <a:avLst/>
            <a:gdLst/>
            <a:ahLst/>
            <a:cxnLst/>
            <a:rect r="r" b="b" t="t" l="l"/>
            <a:pathLst>
              <a:path h="243427" w="347753">
                <a:moveTo>
                  <a:pt x="0" y="0"/>
                </a:moveTo>
                <a:lnTo>
                  <a:pt x="347754" y="0"/>
                </a:lnTo>
                <a:lnTo>
                  <a:pt x="347754" y="243427"/>
                </a:lnTo>
                <a:lnTo>
                  <a:pt x="0" y="243427"/>
                </a:lnTo>
                <a:lnTo>
                  <a:pt x="0" y="0"/>
                </a:lnTo>
                <a:close/>
              </a:path>
            </a:pathLst>
          </a:custGeom>
          <a:blipFill>
            <a:blip r:embed="rId2">
              <a:extLst>
                <a:ext uri="{96DAC541-7B7A-43D3-8B79-37D633B846F1}">
                  <asvg:svgBlip xmlns:asvg="http://schemas.microsoft.com/office/drawing/2016/SVG/main" r:embed="rId3"/>
                </a:ext>
              </a:extLst>
            </a:blip>
            <a:stretch>
              <a:fillRect l="0" t="-193" r="0" b="-193"/>
            </a:stretch>
          </a:blipFill>
        </p:spPr>
      </p:sp>
      <p:grpSp>
        <p:nvGrpSpPr>
          <p:cNvPr name="Group 5" id="5"/>
          <p:cNvGrpSpPr/>
          <p:nvPr/>
        </p:nvGrpSpPr>
        <p:grpSpPr>
          <a:xfrm rot="0">
            <a:off x="1038225" y="625742"/>
            <a:ext cx="9571112" cy="1485011"/>
            <a:chOff x="0" y="0"/>
            <a:chExt cx="12761483" cy="1980015"/>
          </a:xfrm>
        </p:grpSpPr>
        <p:sp>
          <p:nvSpPr>
            <p:cNvPr name="Freeform 6" id="6"/>
            <p:cNvSpPr/>
            <p:nvPr/>
          </p:nvSpPr>
          <p:spPr>
            <a:xfrm flipH="false" flipV="false" rot="0">
              <a:off x="0" y="0"/>
              <a:ext cx="12761483" cy="1980015"/>
            </a:xfrm>
            <a:custGeom>
              <a:avLst/>
              <a:gdLst/>
              <a:ahLst/>
              <a:cxnLst/>
              <a:rect r="r" b="b" t="t" l="l"/>
              <a:pathLst>
                <a:path h="1980015" w="12761483">
                  <a:moveTo>
                    <a:pt x="0" y="0"/>
                  </a:moveTo>
                  <a:lnTo>
                    <a:pt x="12761483" y="0"/>
                  </a:lnTo>
                  <a:lnTo>
                    <a:pt x="12761483" y="1980015"/>
                  </a:lnTo>
                  <a:lnTo>
                    <a:pt x="0" y="1980015"/>
                  </a:lnTo>
                  <a:close/>
                </a:path>
              </a:pathLst>
            </a:custGeom>
            <a:solidFill>
              <a:srgbClr val="000000">
                <a:alpha val="0"/>
              </a:srgbClr>
            </a:solidFill>
          </p:spPr>
        </p:sp>
        <p:sp>
          <p:nvSpPr>
            <p:cNvPr name="TextBox 7" id="7"/>
            <p:cNvSpPr txBox="true"/>
            <p:nvPr/>
          </p:nvSpPr>
          <p:spPr>
            <a:xfrm>
              <a:off x="0" y="-19050"/>
              <a:ext cx="12761483" cy="1999065"/>
            </a:xfrm>
            <a:prstGeom prst="rect">
              <a:avLst/>
            </a:prstGeom>
          </p:spPr>
          <p:txBody>
            <a:bodyPr anchor="t" rtlCol="false" tIns="0" lIns="0" bIns="0" rIns="0"/>
            <a:lstStyle/>
            <a:p>
              <a:pPr algn="l">
                <a:lnSpc>
                  <a:spcPts val="9600"/>
                </a:lnSpc>
              </a:pPr>
              <a:r>
                <a:rPr lang="en-US" sz="8000" b="true">
                  <a:solidFill>
                    <a:srgbClr val="0BB6BC"/>
                  </a:solidFill>
                  <a:latin typeface="Barlow Bold"/>
                  <a:ea typeface="Barlow Bold"/>
                  <a:cs typeface="Barlow Bold"/>
                  <a:sym typeface="Barlow Bold"/>
                </a:rPr>
                <a:t>Solution </a:t>
              </a:r>
            </a:p>
          </p:txBody>
        </p:sp>
      </p:grpSp>
      <p:grpSp>
        <p:nvGrpSpPr>
          <p:cNvPr name="Group 8" id="8"/>
          <p:cNvGrpSpPr/>
          <p:nvPr/>
        </p:nvGrpSpPr>
        <p:grpSpPr>
          <a:xfrm rot="0">
            <a:off x="17050357" y="9484941"/>
            <a:ext cx="798886" cy="347980"/>
            <a:chOff x="0" y="0"/>
            <a:chExt cx="1065181" cy="463973"/>
          </a:xfrm>
        </p:grpSpPr>
        <p:sp>
          <p:nvSpPr>
            <p:cNvPr name="Freeform 9" id="9"/>
            <p:cNvSpPr/>
            <p:nvPr/>
          </p:nvSpPr>
          <p:spPr>
            <a:xfrm flipH="false" flipV="false" rot="0">
              <a:off x="0" y="0"/>
              <a:ext cx="1065181" cy="463973"/>
            </a:xfrm>
            <a:custGeom>
              <a:avLst/>
              <a:gdLst/>
              <a:ahLst/>
              <a:cxnLst/>
              <a:rect r="r" b="b" t="t" l="l"/>
              <a:pathLst>
                <a:path h="463973" w="1065181">
                  <a:moveTo>
                    <a:pt x="0" y="0"/>
                  </a:moveTo>
                  <a:lnTo>
                    <a:pt x="1065181" y="0"/>
                  </a:lnTo>
                  <a:lnTo>
                    <a:pt x="1065181" y="463973"/>
                  </a:lnTo>
                  <a:lnTo>
                    <a:pt x="0" y="463973"/>
                  </a:lnTo>
                  <a:close/>
                </a:path>
              </a:pathLst>
            </a:custGeom>
            <a:solidFill>
              <a:srgbClr val="000000">
                <a:alpha val="0"/>
              </a:srgbClr>
            </a:solidFill>
          </p:spPr>
        </p:sp>
        <p:sp>
          <p:nvSpPr>
            <p:cNvPr name="TextBox 10" id="10"/>
            <p:cNvSpPr txBox="true"/>
            <p:nvPr/>
          </p:nvSpPr>
          <p:spPr>
            <a:xfrm>
              <a:off x="0" y="-19050"/>
              <a:ext cx="1065181" cy="483023"/>
            </a:xfrm>
            <a:prstGeom prst="rect">
              <a:avLst/>
            </a:prstGeom>
          </p:spPr>
          <p:txBody>
            <a:bodyPr anchor="t" rtlCol="false" tIns="0" lIns="0" bIns="0" rIns="0"/>
            <a:lstStyle/>
            <a:p>
              <a:pPr algn="r">
                <a:lnSpc>
                  <a:spcPts val="2749"/>
                </a:lnSpc>
              </a:pPr>
              <a:r>
                <a:rPr lang="en-US" sz="2199" b="true">
                  <a:solidFill>
                    <a:srgbClr val="90113E"/>
                  </a:solidFill>
                  <a:latin typeface="Barlow Bold"/>
                  <a:ea typeface="Barlow Bold"/>
                  <a:cs typeface="Barlow Bold"/>
                  <a:sym typeface="Barlow Bold"/>
                </a:rPr>
                <a:t>06</a:t>
              </a:r>
            </a:p>
          </p:txBody>
        </p:sp>
      </p:grpSp>
      <p:grpSp>
        <p:nvGrpSpPr>
          <p:cNvPr name="Group 11" id="11"/>
          <p:cNvGrpSpPr/>
          <p:nvPr/>
        </p:nvGrpSpPr>
        <p:grpSpPr>
          <a:xfrm rot="0">
            <a:off x="1038225" y="3574479"/>
            <a:ext cx="15282870" cy="3138043"/>
            <a:chOff x="0" y="0"/>
            <a:chExt cx="20377161" cy="4184057"/>
          </a:xfrm>
        </p:grpSpPr>
        <p:sp>
          <p:nvSpPr>
            <p:cNvPr name="Freeform 12" id="12"/>
            <p:cNvSpPr/>
            <p:nvPr/>
          </p:nvSpPr>
          <p:spPr>
            <a:xfrm flipH="false" flipV="false" rot="0">
              <a:off x="0" y="0"/>
              <a:ext cx="20377161" cy="4184057"/>
            </a:xfrm>
            <a:custGeom>
              <a:avLst/>
              <a:gdLst/>
              <a:ahLst/>
              <a:cxnLst/>
              <a:rect r="r" b="b" t="t" l="l"/>
              <a:pathLst>
                <a:path h="4184057" w="20377161">
                  <a:moveTo>
                    <a:pt x="0" y="0"/>
                  </a:moveTo>
                  <a:lnTo>
                    <a:pt x="20377161" y="0"/>
                  </a:lnTo>
                  <a:lnTo>
                    <a:pt x="20377161" y="4184057"/>
                  </a:lnTo>
                  <a:lnTo>
                    <a:pt x="0" y="4184057"/>
                  </a:lnTo>
                  <a:close/>
                </a:path>
              </a:pathLst>
            </a:custGeom>
            <a:solidFill>
              <a:srgbClr val="000000">
                <a:alpha val="0"/>
              </a:srgbClr>
            </a:solidFill>
          </p:spPr>
        </p:sp>
        <p:sp>
          <p:nvSpPr>
            <p:cNvPr name="TextBox 13" id="13"/>
            <p:cNvSpPr txBox="true"/>
            <p:nvPr/>
          </p:nvSpPr>
          <p:spPr>
            <a:xfrm>
              <a:off x="0" y="-9525"/>
              <a:ext cx="20377161" cy="4193582"/>
            </a:xfrm>
            <a:prstGeom prst="rect">
              <a:avLst/>
            </a:prstGeom>
          </p:spPr>
          <p:txBody>
            <a:bodyPr anchor="t" rtlCol="false" tIns="0" lIns="0" bIns="0" rIns="0"/>
            <a:lstStyle/>
            <a:p>
              <a:pPr algn="l" marL="863599" indent="-431800" lvl="1">
                <a:lnSpc>
                  <a:spcPts val="4799"/>
                </a:lnSpc>
                <a:buFont typeface="Arial"/>
                <a:buChar char="•"/>
              </a:pPr>
              <a:r>
                <a:rPr lang="en-US" sz="3999">
                  <a:solidFill>
                    <a:srgbClr val="000000"/>
                  </a:solidFill>
                  <a:latin typeface="Barlow"/>
                  <a:ea typeface="Barlow"/>
                  <a:cs typeface="Barlow"/>
                  <a:sym typeface="Barlow"/>
                </a:rPr>
                <a:t> AI-powered marketplace app linking farmers with buyers directly.</a:t>
              </a:r>
            </a:p>
            <a:p>
              <a:pPr algn="l" marL="863599" indent="-431800" lvl="1">
                <a:lnSpc>
                  <a:spcPts val="4799"/>
                </a:lnSpc>
                <a:buFont typeface="Arial"/>
                <a:buChar char="•"/>
              </a:pPr>
              <a:r>
                <a:rPr lang="en-US" sz="3999">
                  <a:solidFill>
                    <a:srgbClr val="000000"/>
                  </a:solidFill>
                  <a:latin typeface="Barlow"/>
                  <a:ea typeface="Barlow"/>
                  <a:cs typeface="Barlow"/>
                  <a:sym typeface="Barlow"/>
                </a:rPr>
                <a:t>Real-time price tracking and predictive market analytics.</a:t>
              </a:r>
            </a:p>
            <a:p>
              <a:pPr algn="l" marL="863599" indent="-431800" lvl="1">
                <a:lnSpc>
                  <a:spcPts val="4799"/>
                </a:lnSpc>
                <a:buFont typeface="Arial"/>
                <a:buChar char="•"/>
              </a:pPr>
              <a:r>
                <a:rPr lang="en-US" sz="3999">
                  <a:solidFill>
                    <a:srgbClr val="000000"/>
                  </a:solidFill>
                  <a:latin typeface="Barlow"/>
                  <a:ea typeface="Barlow"/>
                  <a:cs typeface="Barlow"/>
                  <a:sym typeface="Barlow"/>
                </a:rPr>
                <a:t>Smart logistics coordination to reduce waste.</a:t>
              </a:r>
            </a:p>
            <a:p>
              <a:pPr algn="l" marL="863599" indent="-431800" lvl="1">
                <a:lnSpc>
                  <a:spcPts val="4799"/>
                </a:lnSpc>
                <a:buFont typeface="Arial"/>
                <a:buChar char="•"/>
              </a:pPr>
              <a:r>
                <a:rPr lang="en-US" sz="3999">
                  <a:solidFill>
                    <a:srgbClr val="000000"/>
                  </a:solidFill>
                  <a:latin typeface="Barlow"/>
                  <a:ea typeface="Barlow"/>
                  <a:cs typeface="Barlow"/>
                  <a:sym typeface="Barlow"/>
                </a:rPr>
                <a:t>Training and digitization support for rural farmers.</a:t>
              </a:r>
            </a:p>
            <a:p>
              <a:pPr algn="l">
                <a:lnSpc>
                  <a:spcPts val="4800"/>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31599" y="2656607"/>
            <a:ext cx="2651460" cy="5245085"/>
          </a:xfrm>
          <a:custGeom>
            <a:avLst/>
            <a:gdLst/>
            <a:ahLst/>
            <a:cxnLst/>
            <a:rect r="r" b="b" t="t" l="l"/>
            <a:pathLst>
              <a:path h="5245085" w="2651460">
                <a:moveTo>
                  <a:pt x="0" y="0"/>
                </a:moveTo>
                <a:lnTo>
                  <a:pt x="2651460" y="0"/>
                </a:lnTo>
                <a:lnTo>
                  <a:pt x="2651460" y="5245085"/>
                </a:lnTo>
                <a:lnTo>
                  <a:pt x="0" y="52450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159559" y="2656607"/>
            <a:ext cx="2651460" cy="5245085"/>
          </a:xfrm>
          <a:custGeom>
            <a:avLst/>
            <a:gdLst/>
            <a:ahLst/>
            <a:cxnLst/>
            <a:rect r="r" b="b" t="t" l="l"/>
            <a:pathLst>
              <a:path h="5245085" w="2651460">
                <a:moveTo>
                  <a:pt x="0" y="0"/>
                </a:moveTo>
                <a:lnTo>
                  <a:pt x="2651460" y="0"/>
                </a:lnTo>
                <a:lnTo>
                  <a:pt x="2651460" y="5245085"/>
                </a:lnTo>
                <a:lnTo>
                  <a:pt x="0" y="52450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667172"/>
            <a:ext cx="8663715" cy="1228725"/>
            <a:chOff x="0" y="0"/>
            <a:chExt cx="11551620" cy="1638300"/>
          </a:xfrm>
        </p:grpSpPr>
        <p:sp>
          <p:nvSpPr>
            <p:cNvPr name="Freeform 5" id="5"/>
            <p:cNvSpPr/>
            <p:nvPr/>
          </p:nvSpPr>
          <p:spPr>
            <a:xfrm flipH="false" flipV="false" rot="0">
              <a:off x="0" y="0"/>
              <a:ext cx="11551620" cy="1638300"/>
            </a:xfrm>
            <a:custGeom>
              <a:avLst/>
              <a:gdLst/>
              <a:ahLst/>
              <a:cxnLst/>
              <a:rect r="r" b="b" t="t" l="l"/>
              <a:pathLst>
                <a:path h="1638300" w="11551620">
                  <a:moveTo>
                    <a:pt x="0" y="0"/>
                  </a:moveTo>
                  <a:lnTo>
                    <a:pt x="11551620" y="0"/>
                  </a:lnTo>
                  <a:lnTo>
                    <a:pt x="11551620" y="1638300"/>
                  </a:lnTo>
                  <a:lnTo>
                    <a:pt x="0" y="1638300"/>
                  </a:lnTo>
                  <a:close/>
                </a:path>
              </a:pathLst>
            </a:custGeom>
            <a:solidFill>
              <a:srgbClr val="000000">
                <a:alpha val="0"/>
              </a:srgbClr>
            </a:solidFill>
          </p:spPr>
        </p:sp>
        <p:sp>
          <p:nvSpPr>
            <p:cNvPr name="TextBox 6" id="6"/>
            <p:cNvSpPr txBox="true"/>
            <p:nvPr/>
          </p:nvSpPr>
          <p:spPr>
            <a:xfrm>
              <a:off x="0" y="0"/>
              <a:ext cx="11551620" cy="1638300"/>
            </a:xfrm>
            <a:prstGeom prst="rect">
              <a:avLst/>
            </a:prstGeom>
          </p:spPr>
          <p:txBody>
            <a:bodyPr anchor="t" rtlCol="false" tIns="0" lIns="0" bIns="0" rIns="0"/>
            <a:lstStyle/>
            <a:p>
              <a:pPr algn="l">
                <a:lnSpc>
                  <a:spcPts val="9720"/>
                </a:lnSpc>
              </a:pPr>
              <a:r>
                <a:rPr lang="en-US" sz="8100" b="true">
                  <a:solidFill>
                    <a:srgbClr val="0BB6BC"/>
                  </a:solidFill>
                  <a:latin typeface="Barlow Bold"/>
                  <a:ea typeface="Barlow Bold"/>
                  <a:cs typeface="Barlow Bold"/>
                  <a:sym typeface="Barlow Bold"/>
                </a:rPr>
                <a:t>Product</a:t>
              </a:r>
            </a:p>
          </p:txBody>
        </p:sp>
      </p:grpSp>
      <p:grpSp>
        <p:nvGrpSpPr>
          <p:cNvPr name="Group 7" id="7"/>
          <p:cNvGrpSpPr/>
          <p:nvPr/>
        </p:nvGrpSpPr>
        <p:grpSpPr>
          <a:xfrm rot="0">
            <a:off x="9914812" y="2656607"/>
            <a:ext cx="7344488" cy="5832077"/>
            <a:chOff x="0" y="0"/>
            <a:chExt cx="9792650" cy="7776102"/>
          </a:xfrm>
        </p:grpSpPr>
        <p:sp>
          <p:nvSpPr>
            <p:cNvPr name="Freeform 8" id="8"/>
            <p:cNvSpPr/>
            <p:nvPr/>
          </p:nvSpPr>
          <p:spPr>
            <a:xfrm flipH="false" flipV="false" rot="0">
              <a:off x="0" y="0"/>
              <a:ext cx="9792650" cy="7776102"/>
            </a:xfrm>
            <a:custGeom>
              <a:avLst/>
              <a:gdLst/>
              <a:ahLst/>
              <a:cxnLst/>
              <a:rect r="r" b="b" t="t" l="l"/>
              <a:pathLst>
                <a:path h="7776102" w="9792650">
                  <a:moveTo>
                    <a:pt x="0" y="0"/>
                  </a:moveTo>
                  <a:lnTo>
                    <a:pt x="9792650" y="0"/>
                  </a:lnTo>
                  <a:lnTo>
                    <a:pt x="9792650" y="7776102"/>
                  </a:lnTo>
                  <a:lnTo>
                    <a:pt x="0" y="7776102"/>
                  </a:lnTo>
                  <a:close/>
                </a:path>
              </a:pathLst>
            </a:custGeom>
            <a:solidFill>
              <a:srgbClr val="000000">
                <a:alpha val="0"/>
              </a:srgbClr>
            </a:solidFill>
          </p:spPr>
        </p:sp>
        <p:sp>
          <p:nvSpPr>
            <p:cNvPr name="TextBox 9" id="9"/>
            <p:cNvSpPr txBox="true"/>
            <p:nvPr/>
          </p:nvSpPr>
          <p:spPr>
            <a:xfrm>
              <a:off x="0" y="-38100"/>
              <a:ext cx="9792650" cy="7814202"/>
            </a:xfrm>
            <a:prstGeom prst="rect">
              <a:avLst/>
            </a:prstGeom>
          </p:spPr>
          <p:txBody>
            <a:bodyPr anchor="t" rtlCol="false" tIns="0" lIns="0" bIns="0" rIns="0"/>
            <a:lstStyle/>
            <a:p>
              <a:pPr algn="l">
                <a:lnSpc>
                  <a:spcPts val="4158"/>
                </a:lnSpc>
              </a:pPr>
              <a:r>
                <a:rPr lang="en-US" sz="3198">
                  <a:solidFill>
                    <a:srgbClr val="000000"/>
                  </a:solidFill>
                  <a:latin typeface="Barlow"/>
                  <a:ea typeface="Barlow"/>
                  <a:cs typeface="Barlow"/>
                  <a:sym typeface="Barlow"/>
                </a:rPr>
                <a:t>Mobile &amp; web platform (with USSD support for non-smartphone users).</a:t>
              </a:r>
            </a:p>
            <a:p>
              <a:pPr algn="l">
                <a:lnSpc>
                  <a:spcPts val="4158"/>
                </a:lnSpc>
              </a:pPr>
            </a:p>
            <a:p>
              <a:pPr algn="l">
                <a:lnSpc>
                  <a:spcPts val="4158"/>
                </a:lnSpc>
              </a:pPr>
              <a:r>
                <a:rPr lang="en-US" sz="3198">
                  <a:solidFill>
                    <a:srgbClr val="000000"/>
                  </a:solidFill>
                  <a:latin typeface="Barlow"/>
                  <a:ea typeface="Barlow"/>
                  <a:cs typeface="Barlow"/>
                  <a:sym typeface="Barlow"/>
                </a:rPr>
                <a:t>Features:</a:t>
              </a:r>
            </a:p>
            <a:p>
              <a:pPr algn="l" marL="690662" indent="-345331" lvl="1">
                <a:lnSpc>
                  <a:spcPts val="4158"/>
                </a:lnSpc>
                <a:buFont typeface="Arial"/>
                <a:buChar char="•"/>
              </a:pPr>
              <a:r>
                <a:rPr lang="en-US" sz="3198">
                  <a:solidFill>
                    <a:srgbClr val="000000"/>
                  </a:solidFill>
                  <a:latin typeface="Barlow"/>
                  <a:ea typeface="Barlow"/>
                  <a:cs typeface="Barlow"/>
                  <a:sym typeface="Barlow"/>
                </a:rPr>
                <a:t>Produce listing + bidding system.</a:t>
              </a:r>
            </a:p>
            <a:p>
              <a:pPr algn="l" marL="690662" indent="-345331" lvl="1">
                <a:lnSpc>
                  <a:spcPts val="4158"/>
                </a:lnSpc>
                <a:buFont typeface="Arial"/>
                <a:buChar char="•"/>
              </a:pPr>
              <a:r>
                <a:rPr lang="en-US" sz="3198">
                  <a:solidFill>
                    <a:srgbClr val="000000"/>
                  </a:solidFill>
                  <a:latin typeface="Barlow"/>
                  <a:ea typeface="Barlow"/>
                  <a:cs typeface="Barlow"/>
                  <a:sym typeface="Barlow"/>
                </a:rPr>
                <a:t>Predictive pricing using machine learning.</a:t>
              </a:r>
            </a:p>
            <a:p>
              <a:pPr algn="l" marL="690662" indent="-345331" lvl="1">
                <a:lnSpc>
                  <a:spcPts val="4158"/>
                </a:lnSpc>
                <a:buFont typeface="Arial"/>
                <a:buChar char="•"/>
              </a:pPr>
              <a:r>
                <a:rPr lang="en-US" sz="3198">
                  <a:solidFill>
                    <a:srgbClr val="000000"/>
                  </a:solidFill>
                  <a:latin typeface="Barlow"/>
                  <a:ea typeface="Barlow"/>
                  <a:cs typeface="Barlow"/>
                  <a:sym typeface="Barlow"/>
                </a:rPr>
                <a:t>GPS-based logistics support.</a:t>
              </a:r>
            </a:p>
            <a:p>
              <a:pPr algn="l" marL="690662" indent="-345331" lvl="1">
                <a:lnSpc>
                  <a:spcPts val="4158"/>
                </a:lnSpc>
                <a:buFont typeface="Arial"/>
                <a:buChar char="•"/>
              </a:pPr>
              <a:r>
                <a:rPr lang="en-US" sz="3198">
                  <a:solidFill>
                    <a:srgbClr val="000000"/>
                  </a:solidFill>
                  <a:latin typeface="Barlow"/>
                  <a:ea typeface="Barlow"/>
                  <a:cs typeface="Barlow"/>
                  <a:sym typeface="Barlow"/>
                </a:rPr>
                <a:t>Payments and transaction records (via M-Pesa).</a:t>
              </a:r>
            </a:p>
            <a:p>
              <a:pPr algn="l">
                <a:lnSpc>
                  <a:spcPts val="4159"/>
                </a:lnSpc>
              </a:pPr>
            </a:p>
          </p:txBody>
        </p:sp>
      </p:grpSp>
      <p:grpSp>
        <p:nvGrpSpPr>
          <p:cNvPr name="Group 10" id="10"/>
          <p:cNvGrpSpPr/>
          <p:nvPr/>
        </p:nvGrpSpPr>
        <p:grpSpPr>
          <a:xfrm rot="0">
            <a:off x="17050357" y="9484941"/>
            <a:ext cx="798886" cy="347980"/>
            <a:chOff x="0" y="0"/>
            <a:chExt cx="1065181" cy="463973"/>
          </a:xfrm>
        </p:grpSpPr>
        <p:sp>
          <p:nvSpPr>
            <p:cNvPr name="Freeform 11" id="11"/>
            <p:cNvSpPr/>
            <p:nvPr/>
          </p:nvSpPr>
          <p:spPr>
            <a:xfrm flipH="false" flipV="false" rot="0">
              <a:off x="0" y="0"/>
              <a:ext cx="1065181" cy="463973"/>
            </a:xfrm>
            <a:custGeom>
              <a:avLst/>
              <a:gdLst/>
              <a:ahLst/>
              <a:cxnLst/>
              <a:rect r="r" b="b" t="t" l="l"/>
              <a:pathLst>
                <a:path h="463973" w="1065181">
                  <a:moveTo>
                    <a:pt x="0" y="0"/>
                  </a:moveTo>
                  <a:lnTo>
                    <a:pt x="1065181" y="0"/>
                  </a:lnTo>
                  <a:lnTo>
                    <a:pt x="1065181" y="463973"/>
                  </a:lnTo>
                  <a:lnTo>
                    <a:pt x="0" y="463973"/>
                  </a:lnTo>
                  <a:close/>
                </a:path>
              </a:pathLst>
            </a:custGeom>
            <a:solidFill>
              <a:srgbClr val="000000">
                <a:alpha val="0"/>
              </a:srgbClr>
            </a:solidFill>
          </p:spPr>
        </p:sp>
        <p:sp>
          <p:nvSpPr>
            <p:cNvPr name="TextBox 12" id="12"/>
            <p:cNvSpPr txBox="true"/>
            <p:nvPr/>
          </p:nvSpPr>
          <p:spPr>
            <a:xfrm>
              <a:off x="0" y="-19050"/>
              <a:ext cx="1065181" cy="483023"/>
            </a:xfrm>
            <a:prstGeom prst="rect">
              <a:avLst/>
            </a:prstGeom>
          </p:spPr>
          <p:txBody>
            <a:bodyPr anchor="t" rtlCol="false" tIns="0" lIns="0" bIns="0" rIns="0"/>
            <a:lstStyle/>
            <a:p>
              <a:pPr algn="r">
                <a:lnSpc>
                  <a:spcPts val="2749"/>
                </a:lnSpc>
              </a:pPr>
              <a:r>
                <a:rPr lang="en-US" sz="2199">
                  <a:solidFill>
                    <a:srgbClr val="000000"/>
                  </a:solidFill>
                  <a:latin typeface="Barlow"/>
                  <a:ea typeface="Barlow"/>
                  <a:cs typeface="Barlow"/>
                  <a:sym typeface="Barlow"/>
                </a:rPr>
                <a:t>04</a:t>
              </a:r>
            </a:p>
          </p:txBody>
        </p:sp>
      </p:grpSp>
      <p:sp>
        <p:nvSpPr>
          <p:cNvPr name="Freeform 13" id="13"/>
          <p:cNvSpPr/>
          <p:nvPr/>
        </p:nvSpPr>
        <p:spPr>
          <a:xfrm flipH="false" flipV="false" rot="0">
            <a:off x="1328629" y="4250449"/>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514382" y="4184941"/>
            <a:ext cx="1941814" cy="1941814"/>
          </a:xfrm>
          <a:custGeom>
            <a:avLst/>
            <a:gdLst/>
            <a:ahLst/>
            <a:cxnLst/>
            <a:rect r="r" b="b" t="t" l="l"/>
            <a:pathLst>
              <a:path h="1941814" w="1941814">
                <a:moveTo>
                  <a:pt x="0" y="0"/>
                </a:moveTo>
                <a:lnTo>
                  <a:pt x="1941814" y="0"/>
                </a:lnTo>
                <a:lnTo>
                  <a:pt x="1941814" y="1941813"/>
                </a:lnTo>
                <a:lnTo>
                  <a:pt x="0" y="19418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7FA"/>
        </a:solidFill>
      </p:bgPr>
    </p:bg>
    <p:spTree>
      <p:nvGrpSpPr>
        <p:cNvPr id="1" name=""/>
        <p:cNvGrpSpPr/>
        <p:nvPr/>
      </p:nvGrpSpPr>
      <p:grpSpPr>
        <a:xfrm>
          <a:off x="0" y="0"/>
          <a:ext cx="0" cy="0"/>
          <a:chOff x="0" y="0"/>
          <a:chExt cx="0" cy="0"/>
        </a:xfrm>
      </p:grpSpPr>
      <p:grpSp>
        <p:nvGrpSpPr>
          <p:cNvPr name="Group 2" id="2"/>
          <p:cNvGrpSpPr/>
          <p:nvPr/>
        </p:nvGrpSpPr>
        <p:grpSpPr>
          <a:xfrm rot="0">
            <a:off x="6100057" y="1596726"/>
            <a:ext cx="9082750" cy="1507503"/>
            <a:chOff x="0" y="0"/>
            <a:chExt cx="12110333" cy="2010004"/>
          </a:xfrm>
        </p:grpSpPr>
        <p:sp>
          <p:nvSpPr>
            <p:cNvPr name="Freeform 3" id="3"/>
            <p:cNvSpPr/>
            <p:nvPr/>
          </p:nvSpPr>
          <p:spPr>
            <a:xfrm flipH="false" flipV="false" rot="0">
              <a:off x="0" y="0"/>
              <a:ext cx="12110334" cy="2010004"/>
            </a:xfrm>
            <a:custGeom>
              <a:avLst/>
              <a:gdLst/>
              <a:ahLst/>
              <a:cxnLst/>
              <a:rect r="r" b="b" t="t" l="l"/>
              <a:pathLst>
                <a:path h="2010004" w="12110334">
                  <a:moveTo>
                    <a:pt x="0" y="0"/>
                  </a:moveTo>
                  <a:lnTo>
                    <a:pt x="12110334" y="0"/>
                  </a:lnTo>
                  <a:lnTo>
                    <a:pt x="12110334" y="2010004"/>
                  </a:lnTo>
                  <a:lnTo>
                    <a:pt x="0" y="2010004"/>
                  </a:lnTo>
                  <a:close/>
                </a:path>
              </a:pathLst>
            </a:custGeom>
            <a:solidFill>
              <a:srgbClr val="000000">
                <a:alpha val="0"/>
              </a:srgbClr>
            </a:solidFill>
          </p:spPr>
        </p:sp>
        <p:sp>
          <p:nvSpPr>
            <p:cNvPr name="TextBox 4" id="4"/>
            <p:cNvSpPr txBox="true"/>
            <p:nvPr/>
          </p:nvSpPr>
          <p:spPr>
            <a:xfrm>
              <a:off x="0" y="0"/>
              <a:ext cx="12110333" cy="2010004"/>
            </a:xfrm>
            <a:prstGeom prst="rect">
              <a:avLst/>
            </a:prstGeom>
          </p:spPr>
          <p:txBody>
            <a:bodyPr anchor="t" rtlCol="false" tIns="0" lIns="0" bIns="0" rIns="0"/>
            <a:lstStyle/>
            <a:p>
              <a:pPr algn="l">
                <a:lnSpc>
                  <a:spcPts val="9720"/>
                </a:lnSpc>
              </a:pPr>
              <a:r>
                <a:rPr lang="en-US" sz="8100" b="true">
                  <a:solidFill>
                    <a:srgbClr val="000000"/>
                  </a:solidFill>
                  <a:latin typeface="Barlow Bold"/>
                  <a:ea typeface="Barlow Bold"/>
                  <a:cs typeface="Barlow Bold"/>
                  <a:sym typeface="Barlow Bold"/>
                </a:rPr>
                <a:t>3</a:t>
              </a:r>
              <a:r>
                <a:rPr lang="en-US" sz="8100" b="true">
                  <a:solidFill>
                    <a:srgbClr val="000000"/>
                  </a:solidFill>
                  <a:latin typeface="Barlow Bold"/>
                  <a:ea typeface="Barlow Bold"/>
                  <a:cs typeface="Barlow Bold"/>
                  <a:sym typeface="Barlow Bold"/>
                </a:rPr>
                <a:t> out 5</a:t>
              </a:r>
            </a:p>
          </p:txBody>
        </p:sp>
      </p:grpSp>
      <p:grpSp>
        <p:nvGrpSpPr>
          <p:cNvPr name="Group 5" id="5"/>
          <p:cNvGrpSpPr/>
          <p:nvPr/>
        </p:nvGrpSpPr>
        <p:grpSpPr>
          <a:xfrm rot="0">
            <a:off x="6138157" y="2964715"/>
            <a:ext cx="9082750" cy="1152745"/>
            <a:chOff x="0" y="0"/>
            <a:chExt cx="12110333" cy="1536993"/>
          </a:xfrm>
        </p:grpSpPr>
        <p:sp>
          <p:nvSpPr>
            <p:cNvPr name="Freeform 6" id="6"/>
            <p:cNvSpPr/>
            <p:nvPr/>
          </p:nvSpPr>
          <p:spPr>
            <a:xfrm flipH="false" flipV="false" rot="0">
              <a:off x="0" y="0"/>
              <a:ext cx="12110334" cy="1536993"/>
            </a:xfrm>
            <a:custGeom>
              <a:avLst/>
              <a:gdLst/>
              <a:ahLst/>
              <a:cxnLst/>
              <a:rect r="r" b="b" t="t" l="l"/>
              <a:pathLst>
                <a:path h="1536993" w="12110334">
                  <a:moveTo>
                    <a:pt x="0" y="0"/>
                  </a:moveTo>
                  <a:lnTo>
                    <a:pt x="12110334" y="0"/>
                  </a:lnTo>
                  <a:lnTo>
                    <a:pt x="12110334" y="1536993"/>
                  </a:lnTo>
                  <a:lnTo>
                    <a:pt x="0" y="1536993"/>
                  </a:lnTo>
                  <a:close/>
                </a:path>
              </a:pathLst>
            </a:custGeom>
            <a:solidFill>
              <a:srgbClr val="000000">
                <a:alpha val="0"/>
              </a:srgbClr>
            </a:solidFill>
          </p:spPr>
        </p:sp>
        <p:sp>
          <p:nvSpPr>
            <p:cNvPr name="TextBox 7" id="7"/>
            <p:cNvSpPr txBox="true"/>
            <p:nvPr/>
          </p:nvSpPr>
          <p:spPr>
            <a:xfrm>
              <a:off x="0" y="-66675"/>
              <a:ext cx="12110333" cy="1603668"/>
            </a:xfrm>
            <a:prstGeom prst="rect">
              <a:avLst/>
            </a:prstGeom>
          </p:spPr>
          <p:txBody>
            <a:bodyPr anchor="t" rtlCol="false" tIns="0" lIns="0" bIns="0" rIns="0"/>
            <a:lstStyle/>
            <a:p>
              <a:pPr algn="l">
                <a:lnSpc>
                  <a:spcPts val="4479"/>
                </a:lnSpc>
              </a:pPr>
              <a:r>
                <a:rPr lang="en-US" sz="3199" b="true">
                  <a:solidFill>
                    <a:srgbClr val="000000"/>
                  </a:solidFill>
                  <a:latin typeface="Barlow Bold"/>
                  <a:ea typeface="Barlow Bold"/>
                  <a:cs typeface="Barlow Bold"/>
                  <a:sym typeface="Barlow Bold"/>
                </a:rPr>
                <a:t>Primary: Smallholder farmers (Kenya, Uganda, Tanzania).</a:t>
              </a:r>
            </a:p>
          </p:txBody>
        </p:sp>
      </p:grpSp>
      <p:grpSp>
        <p:nvGrpSpPr>
          <p:cNvPr name="Group 8" id="8"/>
          <p:cNvGrpSpPr/>
          <p:nvPr/>
        </p:nvGrpSpPr>
        <p:grpSpPr>
          <a:xfrm rot="0">
            <a:off x="6100057" y="4720014"/>
            <a:ext cx="9082750" cy="1228725"/>
            <a:chOff x="0" y="0"/>
            <a:chExt cx="12110333" cy="1638300"/>
          </a:xfrm>
        </p:grpSpPr>
        <p:sp>
          <p:nvSpPr>
            <p:cNvPr name="Freeform 9" id="9"/>
            <p:cNvSpPr/>
            <p:nvPr/>
          </p:nvSpPr>
          <p:spPr>
            <a:xfrm flipH="false" flipV="false" rot="0">
              <a:off x="0" y="0"/>
              <a:ext cx="12110334" cy="1638300"/>
            </a:xfrm>
            <a:custGeom>
              <a:avLst/>
              <a:gdLst/>
              <a:ahLst/>
              <a:cxnLst/>
              <a:rect r="r" b="b" t="t" l="l"/>
              <a:pathLst>
                <a:path h="1638300" w="12110334">
                  <a:moveTo>
                    <a:pt x="0" y="0"/>
                  </a:moveTo>
                  <a:lnTo>
                    <a:pt x="12110334" y="0"/>
                  </a:lnTo>
                  <a:lnTo>
                    <a:pt x="12110334" y="1638300"/>
                  </a:lnTo>
                  <a:lnTo>
                    <a:pt x="0" y="1638300"/>
                  </a:lnTo>
                  <a:close/>
                </a:path>
              </a:pathLst>
            </a:custGeom>
            <a:solidFill>
              <a:srgbClr val="000000">
                <a:alpha val="0"/>
              </a:srgbClr>
            </a:solidFill>
          </p:spPr>
        </p:sp>
        <p:sp>
          <p:nvSpPr>
            <p:cNvPr name="TextBox 10" id="10"/>
            <p:cNvSpPr txBox="true"/>
            <p:nvPr/>
          </p:nvSpPr>
          <p:spPr>
            <a:xfrm>
              <a:off x="0" y="0"/>
              <a:ext cx="12110333" cy="1638300"/>
            </a:xfrm>
            <a:prstGeom prst="rect">
              <a:avLst/>
            </a:prstGeom>
          </p:spPr>
          <p:txBody>
            <a:bodyPr anchor="t" rtlCol="false" tIns="0" lIns="0" bIns="0" rIns="0"/>
            <a:lstStyle/>
            <a:p>
              <a:pPr algn="l">
                <a:lnSpc>
                  <a:spcPts val="9720"/>
                </a:lnSpc>
              </a:pPr>
              <a:r>
                <a:rPr lang="en-US" sz="8100" b="true">
                  <a:solidFill>
                    <a:srgbClr val="000000"/>
                  </a:solidFill>
                  <a:latin typeface="Barlow Bold"/>
                  <a:ea typeface="Barlow Bold"/>
                  <a:cs typeface="Barlow Bold"/>
                  <a:sym typeface="Barlow Bold"/>
                </a:rPr>
                <a:t>95%</a:t>
              </a:r>
            </a:p>
          </p:txBody>
        </p:sp>
      </p:grpSp>
      <p:grpSp>
        <p:nvGrpSpPr>
          <p:cNvPr name="Group 11" id="11"/>
          <p:cNvGrpSpPr/>
          <p:nvPr/>
        </p:nvGrpSpPr>
        <p:grpSpPr>
          <a:xfrm rot="0">
            <a:off x="6100057" y="6088003"/>
            <a:ext cx="9082750" cy="1152745"/>
            <a:chOff x="0" y="0"/>
            <a:chExt cx="12110333" cy="1536993"/>
          </a:xfrm>
        </p:grpSpPr>
        <p:sp>
          <p:nvSpPr>
            <p:cNvPr name="Freeform 12" id="12"/>
            <p:cNvSpPr/>
            <p:nvPr/>
          </p:nvSpPr>
          <p:spPr>
            <a:xfrm flipH="false" flipV="false" rot="0">
              <a:off x="0" y="0"/>
              <a:ext cx="12110334" cy="1536993"/>
            </a:xfrm>
            <a:custGeom>
              <a:avLst/>
              <a:gdLst/>
              <a:ahLst/>
              <a:cxnLst/>
              <a:rect r="r" b="b" t="t" l="l"/>
              <a:pathLst>
                <a:path h="1536993" w="12110334">
                  <a:moveTo>
                    <a:pt x="0" y="0"/>
                  </a:moveTo>
                  <a:lnTo>
                    <a:pt x="12110334" y="0"/>
                  </a:lnTo>
                  <a:lnTo>
                    <a:pt x="12110334" y="1536993"/>
                  </a:lnTo>
                  <a:lnTo>
                    <a:pt x="0" y="1536993"/>
                  </a:lnTo>
                  <a:close/>
                </a:path>
              </a:pathLst>
            </a:custGeom>
            <a:solidFill>
              <a:srgbClr val="000000">
                <a:alpha val="0"/>
              </a:srgbClr>
            </a:solidFill>
          </p:spPr>
        </p:sp>
        <p:sp>
          <p:nvSpPr>
            <p:cNvPr name="TextBox 13" id="13"/>
            <p:cNvSpPr txBox="true"/>
            <p:nvPr/>
          </p:nvSpPr>
          <p:spPr>
            <a:xfrm>
              <a:off x="0" y="-66675"/>
              <a:ext cx="12110333" cy="1603668"/>
            </a:xfrm>
            <a:prstGeom prst="rect">
              <a:avLst/>
            </a:prstGeom>
          </p:spPr>
          <p:txBody>
            <a:bodyPr anchor="t" rtlCol="false" tIns="0" lIns="0" bIns="0" rIns="0"/>
            <a:lstStyle/>
            <a:p>
              <a:pPr algn="l">
                <a:lnSpc>
                  <a:spcPts val="4479"/>
                </a:lnSpc>
              </a:pPr>
              <a:r>
                <a:rPr lang="en-US" sz="3199" b="true">
                  <a:solidFill>
                    <a:srgbClr val="000000"/>
                  </a:solidFill>
                  <a:latin typeface="Barlow Bold"/>
                  <a:ea typeface="Barlow Bold"/>
                  <a:cs typeface="Barlow Bold"/>
                  <a:sym typeface="Barlow Bold"/>
                </a:rPr>
                <a:t>Secondary: Bulk buyers, supermarkets, agro-exporters.</a:t>
              </a:r>
            </a:p>
          </p:txBody>
        </p:sp>
      </p:grpSp>
      <p:grpSp>
        <p:nvGrpSpPr>
          <p:cNvPr name="Group 14" id="14"/>
          <p:cNvGrpSpPr/>
          <p:nvPr/>
        </p:nvGrpSpPr>
        <p:grpSpPr>
          <a:xfrm rot="0">
            <a:off x="6100057" y="7337777"/>
            <a:ext cx="9082750" cy="1228725"/>
            <a:chOff x="0" y="0"/>
            <a:chExt cx="12110333" cy="1638300"/>
          </a:xfrm>
        </p:grpSpPr>
        <p:sp>
          <p:nvSpPr>
            <p:cNvPr name="Freeform 15" id="15"/>
            <p:cNvSpPr/>
            <p:nvPr/>
          </p:nvSpPr>
          <p:spPr>
            <a:xfrm flipH="false" flipV="false" rot="0">
              <a:off x="0" y="0"/>
              <a:ext cx="12110334" cy="1638300"/>
            </a:xfrm>
            <a:custGeom>
              <a:avLst/>
              <a:gdLst/>
              <a:ahLst/>
              <a:cxnLst/>
              <a:rect r="r" b="b" t="t" l="l"/>
              <a:pathLst>
                <a:path h="1638300" w="12110334">
                  <a:moveTo>
                    <a:pt x="0" y="0"/>
                  </a:moveTo>
                  <a:lnTo>
                    <a:pt x="12110334" y="0"/>
                  </a:lnTo>
                  <a:lnTo>
                    <a:pt x="12110334" y="1638300"/>
                  </a:lnTo>
                  <a:lnTo>
                    <a:pt x="0" y="1638300"/>
                  </a:lnTo>
                  <a:close/>
                </a:path>
              </a:pathLst>
            </a:custGeom>
            <a:solidFill>
              <a:srgbClr val="000000">
                <a:alpha val="0"/>
              </a:srgbClr>
            </a:solidFill>
          </p:spPr>
        </p:sp>
        <p:sp>
          <p:nvSpPr>
            <p:cNvPr name="TextBox 16" id="16"/>
            <p:cNvSpPr txBox="true"/>
            <p:nvPr/>
          </p:nvSpPr>
          <p:spPr>
            <a:xfrm>
              <a:off x="0" y="0"/>
              <a:ext cx="12110333" cy="1638300"/>
            </a:xfrm>
            <a:prstGeom prst="rect">
              <a:avLst/>
            </a:prstGeom>
          </p:spPr>
          <p:txBody>
            <a:bodyPr anchor="t" rtlCol="false" tIns="0" lIns="0" bIns="0" rIns="0"/>
            <a:lstStyle/>
            <a:p>
              <a:pPr algn="l">
                <a:lnSpc>
                  <a:spcPts val="9720"/>
                </a:lnSpc>
              </a:pPr>
              <a:r>
                <a:rPr lang="en-US" sz="8100" b="true">
                  <a:solidFill>
                    <a:srgbClr val="000000"/>
                  </a:solidFill>
                  <a:latin typeface="Barlow Bold"/>
                  <a:ea typeface="Barlow Bold"/>
                  <a:cs typeface="Barlow Bold"/>
                  <a:sym typeface="Barlow Bold"/>
                </a:rPr>
                <a:t>123 million</a:t>
              </a:r>
            </a:p>
          </p:txBody>
        </p:sp>
      </p:grpSp>
      <p:grpSp>
        <p:nvGrpSpPr>
          <p:cNvPr name="Group 17" id="17"/>
          <p:cNvGrpSpPr/>
          <p:nvPr/>
        </p:nvGrpSpPr>
        <p:grpSpPr>
          <a:xfrm rot="0">
            <a:off x="6138157" y="8709377"/>
            <a:ext cx="9082750" cy="1323123"/>
            <a:chOff x="0" y="0"/>
            <a:chExt cx="12110333" cy="1764164"/>
          </a:xfrm>
        </p:grpSpPr>
        <p:sp>
          <p:nvSpPr>
            <p:cNvPr name="Freeform 18" id="18"/>
            <p:cNvSpPr/>
            <p:nvPr/>
          </p:nvSpPr>
          <p:spPr>
            <a:xfrm flipH="false" flipV="false" rot="0">
              <a:off x="0" y="0"/>
              <a:ext cx="12110334" cy="1764164"/>
            </a:xfrm>
            <a:custGeom>
              <a:avLst/>
              <a:gdLst/>
              <a:ahLst/>
              <a:cxnLst/>
              <a:rect r="r" b="b" t="t" l="l"/>
              <a:pathLst>
                <a:path h="1764164" w="12110334">
                  <a:moveTo>
                    <a:pt x="0" y="0"/>
                  </a:moveTo>
                  <a:lnTo>
                    <a:pt x="12110334" y="0"/>
                  </a:lnTo>
                  <a:lnTo>
                    <a:pt x="12110334" y="1764164"/>
                  </a:lnTo>
                  <a:lnTo>
                    <a:pt x="0" y="1764164"/>
                  </a:lnTo>
                  <a:close/>
                </a:path>
              </a:pathLst>
            </a:custGeom>
            <a:solidFill>
              <a:srgbClr val="000000">
                <a:alpha val="0"/>
              </a:srgbClr>
            </a:solidFill>
          </p:spPr>
        </p:sp>
        <p:sp>
          <p:nvSpPr>
            <p:cNvPr name="TextBox 19" id="19"/>
            <p:cNvSpPr txBox="true"/>
            <p:nvPr/>
          </p:nvSpPr>
          <p:spPr>
            <a:xfrm>
              <a:off x="0" y="-66675"/>
              <a:ext cx="12110333" cy="1830839"/>
            </a:xfrm>
            <a:prstGeom prst="rect">
              <a:avLst/>
            </a:prstGeom>
          </p:spPr>
          <p:txBody>
            <a:bodyPr anchor="t" rtlCol="false" tIns="0" lIns="0" bIns="0" rIns="0"/>
            <a:lstStyle/>
            <a:p>
              <a:pPr algn="l">
                <a:lnSpc>
                  <a:spcPts val="4479"/>
                </a:lnSpc>
              </a:pPr>
              <a:r>
                <a:rPr lang="en-US" sz="3199" b="true">
                  <a:solidFill>
                    <a:srgbClr val="000000"/>
                  </a:solidFill>
                  <a:latin typeface="Barlow Bold"/>
                  <a:ea typeface="Barlow Bold"/>
                  <a:cs typeface="Barlow Bold"/>
                  <a:sym typeface="Barlow Bold"/>
                </a:rPr>
                <a:t>Tertiary: NGOs &amp; gov’t programs supporting agricultural supply chains.</a:t>
              </a:r>
            </a:p>
          </p:txBody>
        </p:sp>
      </p:grpSp>
      <p:sp>
        <p:nvSpPr>
          <p:cNvPr name="Freeform 20" id="20"/>
          <p:cNvSpPr/>
          <p:nvPr/>
        </p:nvSpPr>
        <p:spPr>
          <a:xfrm flipH="false" flipV="false" rot="0">
            <a:off x="674552" y="4493818"/>
            <a:ext cx="4249772" cy="2479033"/>
          </a:xfrm>
          <a:custGeom>
            <a:avLst/>
            <a:gdLst/>
            <a:ahLst/>
            <a:cxnLst/>
            <a:rect r="r" b="b" t="t" l="l"/>
            <a:pathLst>
              <a:path h="2479033" w="4249772">
                <a:moveTo>
                  <a:pt x="0" y="0"/>
                </a:moveTo>
                <a:lnTo>
                  <a:pt x="4249772" y="0"/>
                </a:lnTo>
                <a:lnTo>
                  <a:pt x="4249772" y="2479033"/>
                </a:lnTo>
                <a:lnTo>
                  <a:pt x="0" y="2479033"/>
                </a:lnTo>
                <a:lnTo>
                  <a:pt x="0" y="0"/>
                </a:lnTo>
                <a:close/>
              </a:path>
            </a:pathLst>
          </a:custGeom>
          <a:blipFill>
            <a:blip r:embed="rId2"/>
            <a:stretch>
              <a:fillRect l="0" t="-80" r="0" b="-80"/>
            </a:stretch>
          </a:blipFill>
        </p:spPr>
      </p:sp>
      <p:sp>
        <p:nvSpPr>
          <p:cNvPr name="Freeform 21" id="21"/>
          <p:cNvSpPr/>
          <p:nvPr/>
        </p:nvSpPr>
        <p:spPr>
          <a:xfrm flipH="false" flipV="false" rot="0">
            <a:off x="674552" y="7932974"/>
            <a:ext cx="4249772" cy="1345761"/>
          </a:xfrm>
          <a:custGeom>
            <a:avLst/>
            <a:gdLst/>
            <a:ahLst/>
            <a:cxnLst/>
            <a:rect r="r" b="b" t="t" l="l"/>
            <a:pathLst>
              <a:path h="1345761" w="4249772">
                <a:moveTo>
                  <a:pt x="0" y="0"/>
                </a:moveTo>
                <a:lnTo>
                  <a:pt x="4249772" y="0"/>
                </a:lnTo>
                <a:lnTo>
                  <a:pt x="4249772" y="1345761"/>
                </a:lnTo>
                <a:lnTo>
                  <a:pt x="0" y="1345761"/>
                </a:lnTo>
                <a:lnTo>
                  <a:pt x="0" y="0"/>
                </a:lnTo>
                <a:close/>
              </a:path>
            </a:pathLst>
          </a:custGeom>
          <a:blipFill>
            <a:blip r:embed="rId3"/>
            <a:stretch>
              <a:fillRect l="0" t="-142" r="0" b="-142"/>
            </a:stretch>
          </a:blipFill>
        </p:spPr>
      </p:sp>
      <p:sp>
        <p:nvSpPr>
          <p:cNvPr name="Freeform 22" id="22"/>
          <p:cNvSpPr/>
          <p:nvPr/>
        </p:nvSpPr>
        <p:spPr>
          <a:xfrm flipH="false" flipV="false" rot="0">
            <a:off x="674552" y="1930507"/>
            <a:ext cx="4249772" cy="1919056"/>
          </a:xfrm>
          <a:custGeom>
            <a:avLst/>
            <a:gdLst/>
            <a:ahLst/>
            <a:cxnLst/>
            <a:rect r="r" b="b" t="t" l="l"/>
            <a:pathLst>
              <a:path h="1919056" w="4249772">
                <a:moveTo>
                  <a:pt x="0" y="0"/>
                </a:moveTo>
                <a:lnTo>
                  <a:pt x="4249772" y="0"/>
                </a:lnTo>
                <a:lnTo>
                  <a:pt x="4249772" y="1919056"/>
                </a:lnTo>
                <a:lnTo>
                  <a:pt x="0" y="1919056"/>
                </a:lnTo>
                <a:lnTo>
                  <a:pt x="0" y="0"/>
                </a:lnTo>
                <a:close/>
              </a:path>
            </a:pathLst>
          </a:custGeom>
          <a:blipFill>
            <a:blip r:embed="rId4"/>
            <a:stretch>
              <a:fillRect l="0" t="-13" r="0" b="-13"/>
            </a:stretch>
          </a:blipFill>
        </p:spPr>
      </p:sp>
      <p:grpSp>
        <p:nvGrpSpPr>
          <p:cNvPr name="Group 23" id="23"/>
          <p:cNvGrpSpPr/>
          <p:nvPr/>
        </p:nvGrpSpPr>
        <p:grpSpPr>
          <a:xfrm rot="0">
            <a:off x="17050357" y="9484941"/>
            <a:ext cx="798886" cy="347980"/>
            <a:chOff x="0" y="0"/>
            <a:chExt cx="1065181" cy="463973"/>
          </a:xfrm>
        </p:grpSpPr>
        <p:sp>
          <p:nvSpPr>
            <p:cNvPr name="Freeform 24" id="24"/>
            <p:cNvSpPr/>
            <p:nvPr/>
          </p:nvSpPr>
          <p:spPr>
            <a:xfrm flipH="false" flipV="false" rot="0">
              <a:off x="0" y="0"/>
              <a:ext cx="1065181" cy="463973"/>
            </a:xfrm>
            <a:custGeom>
              <a:avLst/>
              <a:gdLst/>
              <a:ahLst/>
              <a:cxnLst/>
              <a:rect r="r" b="b" t="t" l="l"/>
              <a:pathLst>
                <a:path h="463973" w="1065181">
                  <a:moveTo>
                    <a:pt x="0" y="0"/>
                  </a:moveTo>
                  <a:lnTo>
                    <a:pt x="1065181" y="0"/>
                  </a:lnTo>
                  <a:lnTo>
                    <a:pt x="1065181" y="463973"/>
                  </a:lnTo>
                  <a:lnTo>
                    <a:pt x="0" y="463973"/>
                  </a:lnTo>
                  <a:close/>
                </a:path>
              </a:pathLst>
            </a:custGeom>
            <a:solidFill>
              <a:srgbClr val="000000">
                <a:alpha val="0"/>
              </a:srgbClr>
            </a:solidFill>
          </p:spPr>
        </p:sp>
        <p:sp>
          <p:nvSpPr>
            <p:cNvPr name="TextBox 25" id="25"/>
            <p:cNvSpPr txBox="true"/>
            <p:nvPr/>
          </p:nvSpPr>
          <p:spPr>
            <a:xfrm>
              <a:off x="0" y="-19050"/>
              <a:ext cx="1065181" cy="483023"/>
            </a:xfrm>
            <a:prstGeom prst="rect">
              <a:avLst/>
            </a:prstGeom>
          </p:spPr>
          <p:txBody>
            <a:bodyPr anchor="t" rtlCol="false" tIns="0" lIns="0" bIns="0" rIns="0"/>
            <a:lstStyle/>
            <a:p>
              <a:pPr algn="r">
                <a:lnSpc>
                  <a:spcPts val="2749"/>
                </a:lnSpc>
              </a:pPr>
              <a:r>
                <a:rPr lang="en-US" sz="2199" b="true">
                  <a:solidFill>
                    <a:srgbClr val="90113E"/>
                  </a:solidFill>
                  <a:latin typeface="Barlow Bold"/>
                  <a:ea typeface="Barlow Bold"/>
                  <a:cs typeface="Barlow Bold"/>
                  <a:sym typeface="Barlow Bold"/>
                </a:rPr>
                <a:t>14</a:t>
              </a:r>
            </a:p>
          </p:txBody>
        </p:sp>
      </p:grpSp>
      <p:grpSp>
        <p:nvGrpSpPr>
          <p:cNvPr name="Group 26" id="26"/>
          <p:cNvGrpSpPr/>
          <p:nvPr/>
        </p:nvGrpSpPr>
        <p:grpSpPr>
          <a:xfrm rot="0">
            <a:off x="1558682" y="0"/>
            <a:ext cx="9082750" cy="1228725"/>
            <a:chOff x="0" y="0"/>
            <a:chExt cx="12110333" cy="1638300"/>
          </a:xfrm>
        </p:grpSpPr>
        <p:sp>
          <p:nvSpPr>
            <p:cNvPr name="Freeform 27" id="27"/>
            <p:cNvSpPr/>
            <p:nvPr/>
          </p:nvSpPr>
          <p:spPr>
            <a:xfrm flipH="false" flipV="false" rot="0">
              <a:off x="0" y="0"/>
              <a:ext cx="12110334" cy="1638300"/>
            </a:xfrm>
            <a:custGeom>
              <a:avLst/>
              <a:gdLst/>
              <a:ahLst/>
              <a:cxnLst/>
              <a:rect r="r" b="b" t="t" l="l"/>
              <a:pathLst>
                <a:path h="1638300" w="12110334">
                  <a:moveTo>
                    <a:pt x="0" y="0"/>
                  </a:moveTo>
                  <a:lnTo>
                    <a:pt x="12110334" y="0"/>
                  </a:lnTo>
                  <a:lnTo>
                    <a:pt x="12110334" y="1638300"/>
                  </a:lnTo>
                  <a:lnTo>
                    <a:pt x="0" y="1638300"/>
                  </a:lnTo>
                  <a:close/>
                </a:path>
              </a:pathLst>
            </a:custGeom>
            <a:solidFill>
              <a:srgbClr val="000000">
                <a:alpha val="0"/>
              </a:srgbClr>
            </a:solidFill>
          </p:spPr>
        </p:sp>
        <p:sp>
          <p:nvSpPr>
            <p:cNvPr name="TextBox 28" id="28"/>
            <p:cNvSpPr txBox="true"/>
            <p:nvPr/>
          </p:nvSpPr>
          <p:spPr>
            <a:xfrm>
              <a:off x="0" y="0"/>
              <a:ext cx="12110333" cy="1638300"/>
            </a:xfrm>
            <a:prstGeom prst="rect">
              <a:avLst/>
            </a:prstGeom>
          </p:spPr>
          <p:txBody>
            <a:bodyPr anchor="t" rtlCol="false" tIns="0" lIns="0" bIns="0" rIns="0"/>
            <a:lstStyle/>
            <a:p>
              <a:pPr algn="l">
                <a:lnSpc>
                  <a:spcPts val="9720"/>
                </a:lnSpc>
              </a:pPr>
              <a:r>
                <a:rPr lang="en-US" sz="8100" b="true">
                  <a:solidFill>
                    <a:srgbClr val="0BB6BC"/>
                  </a:solidFill>
                  <a:latin typeface="Barlow Bold"/>
                  <a:ea typeface="Barlow Bold"/>
                  <a:cs typeface="Barlow Bold"/>
                  <a:sym typeface="Barlow Bold"/>
                </a:rPr>
                <a:t>Target Market</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781052" y="1109577"/>
            <a:ext cx="8904202" cy="8270391"/>
          </a:xfrm>
          <a:custGeom>
            <a:avLst/>
            <a:gdLst/>
            <a:ahLst/>
            <a:cxnLst/>
            <a:rect r="r" b="b" t="t" l="l"/>
            <a:pathLst>
              <a:path h="8270391" w="8904202">
                <a:moveTo>
                  <a:pt x="0" y="0"/>
                </a:moveTo>
                <a:lnTo>
                  <a:pt x="8904202" y="0"/>
                </a:lnTo>
                <a:lnTo>
                  <a:pt x="8904202" y="8270391"/>
                </a:lnTo>
                <a:lnTo>
                  <a:pt x="0" y="8270391"/>
                </a:lnTo>
                <a:lnTo>
                  <a:pt x="0" y="0"/>
                </a:lnTo>
                <a:close/>
              </a:path>
            </a:pathLst>
          </a:custGeom>
          <a:blipFill>
            <a:blip r:embed="rId2"/>
            <a:stretch>
              <a:fillRect l="-25" t="0" r="-25" b="0"/>
            </a:stretch>
          </a:blipFill>
        </p:spPr>
      </p:sp>
      <p:grpSp>
        <p:nvGrpSpPr>
          <p:cNvPr name="Group 3" id="3"/>
          <p:cNvGrpSpPr/>
          <p:nvPr/>
        </p:nvGrpSpPr>
        <p:grpSpPr>
          <a:xfrm rot="0">
            <a:off x="1028700" y="2386178"/>
            <a:ext cx="7372995" cy="7146312"/>
            <a:chOff x="0" y="0"/>
            <a:chExt cx="9830660" cy="9528415"/>
          </a:xfrm>
        </p:grpSpPr>
        <p:sp>
          <p:nvSpPr>
            <p:cNvPr name="Freeform 4" id="4"/>
            <p:cNvSpPr/>
            <p:nvPr/>
          </p:nvSpPr>
          <p:spPr>
            <a:xfrm flipH="false" flipV="false" rot="0">
              <a:off x="0" y="0"/>
              <a:ext cx="9830660" cy="9528415"/>
            </a:xfrm>
            <a:custGeom>
              <a:avLst/>
              <a:gdLst/>
              <a:ahLst/>
              <a:cxnLst/>
              <a:rect r="r" b="b" t="t" l="l"/>
              <a:pathLst>
                <a:path h="9528415" w="9830660">
                  <a:moveTo>
                    <a:pt x="0" y="0"/>
                  </a:moveTo>
                  <a:lnTo>
                    <a:pt x="9830660" y="0"/>
                  </a:lnTo>
                  <a:lnTo>
                    <a:pt x="9830660" y="9528415"/>
                  </a:lnTo>
                  <a:lnTo>
                    <a:pt x="0" y="9528415"/>
                  </a:lnTo>
                  <a:close/>
                </a:path>
              </a:pathLst>
            </a:custGeom>
            <a:solidFill>
              <a:srgbClr val="000000">
                <a:alpha val="0"/>
              </a:srgbClr>
            </a:solidFill>
          </p:spPr>
        </p:sp>
        <p:sp>
          <p:nvSpPr>
            <p:cNvPr name="TextBox 5" id="5"/>
            <p:cNvSpPr txBox="true"/>
            <p:nvPr/>
          </p:nvSpPr>
          <p:spPr>
            <a:xfrm>
              <a:off x="0" y="-57150"/>
              <a:ext cx="9830660" cy="9585565"/>
            </a:xfrm>
            <a:prstGeom prst="rect">
              <a:avLst/>
            </a:prstGeom>
          </p:spPr>
          <p:txBody>
            <a:bodyPr anchor="t" rtlCol="false" tIns="0" lIns="0" bIns="0" rIns="0"/>
            <a:lstStyle/>
            <a:p>
              <a:pPr algn="l" marL="517948" indent="-258974" lvl="1">
                <a:lnSpc>
                  <a:spcPts val="3358"/>
                </a:lnSpc>
                <a:buFont typeface="Arial"/>
                <a:buChar char="•"/>
              </a:pPr>
              <a:r>
                <a:rPr lang="en-US" sz="2399">
                  <a:solidFill>
                    <a:srgbClr val="000000"/>
                  </a:solidFill>
                  <a:latin typeface="Barlow"/>
                  <a:ea typeface="Barlow"/>
                  <a:cs typeface="Barlow"/>
                  <a:sym typeface="Barlow"/>
                </a:rPr>
                <a:t>Total Addressable Market (TAM)</a:t>
              </a:r>
            </a:p>
            <a:p>
              <a:pPr algn="l">
                <a:lnSpc>
                  <a:spcPts val="3358"/>
                </a:lnSpc>
              </a:pPr>
              <a:r>
                <a:rPr lang="en-US" sz="2399">
                  <a:solidFill>
                    <a:srgbClr val="000000"/>
                  </a:solidFill>
                  <a:latin typeface="Barlow"/>
                  <a:ea typeface="Barlow"/>
                  <a:cs typeface="Barlow"/>
                  <a:sym typeface="Barlow"/>
                </a:rPr>
                <a:t>"East Africa’s agriculture market is valued at $40 billion annually."</a:t>
              </a:r>
            </a:p>
            <a:p>
              <a:pPr algn="l" marL="517948" indent="-258974" lvl="1">
                <a:lnSpc>
                  <a:spcPts val="3358"/>
                </a:lnSpc>
                <a:buFont typeface="Arial"/>
                <a:buChar char="•"/>
              </a:pPr>
              <a:r>
                <a:rPr lang="en-US" sz="2399">
                  <a:solidFill>
                    <a:srgbClr val="000000"/>
                  </a:solidFill>
                  <a:latin typeface="Barlow"/>
                  <a:ea typeface="Barlow"/>
                  <a:cs typeface="Barlow"/>
                  <a:sym typeface="Barlow"/>
                </a:rPr>
                <a:t>Serviceable Available Market (SAM)</a:t>
              </a:r>
            </a:p>
            <a:p>
              <a:pPr algn="l">
                <a:lnSpc>
                  <a:spcPts val="3358"/>
                </a:lnSpc>
              </a:pPr>
              <a:r>
                <a:rPr lang="en-US" sz="2399">
                  <a:solidFill>
                    <a:srgbClr val="000000"/>
                  </a:solidFill>
                  <a:latin typeface="Barlow"/>
                  <a:ea typeface="Barlow"/>
                  <a:cs typeface="Barlow"/>
                  <a:sym typeface="Barlow"/>
                </a:rPr>
                <a:t>"Out of this, $3 billion is transacted via mobile-accessible B2B trading."</a:t>
              </a:r>
            </a:p>
            <a:p>
              <a:pPr algn="l" marL="517948" indent="-258974" lvl="1">
                <a:lnSpc>
                  <a:spcPts val="3358"/>
                </a:lnSpc>
                <a:buFont typeface="Arial"/>
                <a:buChar char="•"/>
              </a:pPr>
              <a:r>
                <a:rPr lang="en-US" sz="2399">
                  <a:solidFill>
                    <a:srgbClr val="000000"/>
                  </a:solidFill>
                  <a:latin typeface="Barlow"/>
                  <a:ea typeface="Barlow"/>
                  <a:cs typeface="Barlow"/>
                  <a:sym typeface="Barlow"/>
                </a:rPr>
                <a:t>Serviceable Obtainable Market (SOM)</a:t>
              </a:r>
            </a:p>
            <a:p>
              <a:pPr algn="l">
                <a:lnSpc>
                  <a:spcPts val="3358"/>
                </a:lnSpc>
              </a:pPr>
              <a:r>
                <a:rPr lang="en-US" sz="2399">
                  <a:solidFill>
                    <a:srgbClr val="000000"/>
                  </a:solidFill>
                  <a:latin typeface="Barlow"/>
                  <a:ea typeface="Barlow"/>
                  <a:cs typeface="Barlow"/>
                  <a:sym typeface="Barlow"/>
                </a:rPr>
                <a:t>"We aim to capture $20 million worth of produce trade within 3 years."</a:t>
              </a:r>
            </a:p>
            <a:p>
              <a:pPr algn="l" marL="517948" indent="-258974" lvl="1">
                <a:lnSpc>
                  <a:spcPts val="3358"/>
                </a:lnSpc>
                <a:buFont typeface="Arial"/>
                <a:buChar char="•"/>
              </a:pPr>
              <a:r>
                <a:rPr lang="en-US" sz="2399">
                  <a:solidFill>
                    <a:srgbClr val="000000"/>
                  </a:solidFill>
                  <a:latin typeface="Barlow"/>
                  <a:ea typeface="Barlow"/>
                  <a:cs typeface="Barlow"/>
                  <a:sym typeface="Barlow"/>
                </a:rPr>
                <a:t>Growth Rate of Market</a:t>
              </a:r>
            </a:p>
            <a:p>
              <a:pPr algn="l">
                <a:lnSpc>
                  <a:spcPts val="3358"/>
                </a:lnSpc>
              </a:pPr>
              <a:r>
                <a:rPr lang="en-US" sz="2399">
                  <a:solidFill>
                    <a:srgbClr val="000000"/>
                  </a:solidFill>
                  <a:latin typeface="Barlow"/>
                  <a:ea typeface="Barlow"/>
                  <a:cs typeface="Barlow"/>
                  <a:sym typeface="Barlow"/>
                </a:rPr>
                <a:t>"Agri-tech in Africa is growing at 15% annually, driven by mobile and AI adoption."</a:t>
              </a:r>
            </a:p>
            <a:p>
              <a:pPr algn="l" marL="517948" indent="-258974" lvl="1">
                <a:lnSpc>
                  <a:spcPts val="3358"/>
                </a:lnSpc>
                <a:buFont typeface="Arial"/>
                <a:buChar char="•"/>
              </a:pPr>
              <a:r>
                <a:rPr lang="en-US" sz="2399">
                  <a:solidFill>
                    <a:srgbClr val="000000"/>
                  </a:solidFill>
                  <a:latin typeface="Barlow"/>
                  <a:ea typeface="Barlow"/>
                  <a:cs typeface="Barlow"/>
                  <a:sym typeface="Barlow"/>
                </a:rPr>
                <a:t>Validation (Why Now?)</a:t>
              </a:r>
            </a:p>
            <a:p>
              <a:pPr algn="l">
                <a:lnSpc>
                  <a:spcPts val="3358"/>
                </a:lnSpc>
              </a:pPr>
              <a:r>
                <a:rPr lang="en-US" sz="2399">
                  <a:solidFill>
                    <a:srgbClr val="000000"/>
                  </a:solidFill>
                  <a:latin typeface="Barlow"/>
                  <a:ea typeface="Barlow"/>
                  <a:cs typeface="Barlow"/>
                  <a:sym typeface="Barlow"/>
                </a:rPr>
                <a:t>Rising food insecurity and government digital agriculture policies create urgent demand for platforms like ours."</a:t>
              </a:r>
            </a:p>
            <a:p>
              <a:pPr algn="l">
                <a:lnSpc>
                  <a:spcPts val="3358"/>
                </a:lnSpc>
              </a:pPr>
            </a:p>
          </p:txBody>
        </p:sp>
      </p:grpSp>
      <p:grpSp>
        <p:nvGrpSpPr>
          <p:cNvPr name="Group 6" id="6"/>
          <p:cNvGrpSpPr/>
          <p:nvPr/>
        </p:nvGrpSpPr>
        <p:grpSpPr>
          <a:xfrm rot="0">
            <a:off x="1028700" y="622869"/>
            <a:ext cx="6896736" cy="1228725"/>
            <a:chOff x="0" y="0"/>
            <a:chExt cx="9195648" cy="1638300"/>
          </a:xfrm>
        </p:grpSpPr>
        <p:sp>
          <p:nvSpPr>
            <p:cNvPr name="Freeform 7" id="7"/>
            <p:cNvSpPr/>
            <p:nvPr/>
          </p:nvSpPr>
          <p:spPr>
            <a:xfrm flipH="false" flipV="false" rot="0">
              <a:off x="0" y="0"/>
              <a:ext cx="9195648" cy="1638300"/>
            </a:xfrm>
            <a:custGeom>
              <a:avLst/>
              <a:gdLst/>
              <a:ahLst/>
              <a:cxnLst/>
              <a:rect r="r" b="b" t="t" l="l"/>
              <a:pathLst>
                <a:path h="1638300" w="9195648">
                  <a:moveTo>
                    <a:pt x="0" y="0"/>
                  </a:moveTo>
                  <a:lnTo>
                    <a:pt x="9195648" y="0"/>
                  </a:lnTo>
                  <a:lnTo>
                    <a:pt x="9195648" y="1638300"/>
                  </a:lnTo>
                  <a:lnTo>
                    <a:pt x="0" y="1638300"/>
                  </a:lnTo>
                  <a:close/>
                </a:path>
              </a:pathLst>
            </a:custGeom>
            <a:solidFill>
              <a:srgbClr val="000000">
                <a:alpha val="0"/>
              </a:srgbClr>
            </a:solidFill>
          </p:spPr>
        </p:sp>
        <p:sp>
          <p:nvSpPr>
            <p:cNvPr name="TextBox 8" id="8"/>
            <p:cNvSpPr txBox="true"/>
            <p:nvPr/>
          </p:nvSpPr>
          <p:spPr>
            <a:xfrm>
              <a:off x="0" y="0"/>
              <a:ext cx="9195648" cy="1638300"/>
            </a:xfrm>
            <a:prstGeom prst="rect">
              <a:avLst/>
            </a:prstGeom>
          </p:spPr>
          <p:txBody>
            <a:bodyPr anchor="t" rtlCol="false" tIns="0" lIns="0" bIns="0" rIns="0"/>
            <a:lstStyle/>
            <a:p>
              <a:pPr algn="l">
                <a:lnSpc>
                  <a:spcPts val="9720"/>
                </a:lnSpc>
              </a:pPr>
              <a:r>
                <a:rPr lang="en-US" sz="8100" b="true">
                  <a:solidFill>
                    <a:srgbClr val="0BB6BC"/>
                  </a:solidFill>
                  <a:latin typeface="Barlow Bold"/>
                  <a:ea typeface="Barlow Bold"/>
                  <a:cs typeface="Barlow Bold"/>
                  <a:sym typeface="Barlow Bold"/>
                </a:rPr>
                <a:t>Market Size</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3359" y="3971075"/>
            <a:ext cx="14881282" cy="602142"/>
            <a:chOff x="0" y="0"/>
            <a:chExt cx="19841709" cy="802856"/>
          </a:xfrm>
        </p:grpSpPr>
        <p:sp>
          <p:nvSpPr>
            <p:cNvPr name="Freeform 3" id="3"/>
            <p:cNvSpPr/>
            <p:nvPr/>
          </p:nvSpPr>
          <p:spPr>
            <a:xfrm flipH="false" flipV="false" rot="0">
              <a:off x="0" y="0"/>
              <a:ext cx="19841718" cy="802894"/>
            </a:xfrm>
            <a:custGeom>
              <a:avLst/>
              <a:gdLst/>
              <a:ahLst/>
              <a:cxnLst/>
              <a:rect r="r" b="b" t="t" l="l"/>
              <a:pathLst>
                <a:path h="802894" w="19841718">
                  <a:moveTo>
                    <a:pt x="0" y="0"/>
                  </a:moveTo>
                  <a:lnTo>
                    <a:pt x="19841718" y="0"/>
                  </a:lnTo>
                  <a:lnTo>
                    <a:pt x="19841718" y="802894"/>
                  </a:lnTo>
                  <a:lnTo>
                    <a:pt x="0" y="802894"/>
                  </a:lnTo>
                  <a:close/>
                </a:path>
              </a:pathLst>
            </a:custGeom>
            <a:solidFill>
              <a:srgbClr val="90113E">
                <a:alpha val="0"/>
              </a:srgbClr>
            </a:solidFill>
          </p:spPr>
        </p:sp>
      </p:grpSp>
      <p:grpSp>
        <p:nvGrpSpPr>
          <p:cNvPr name="Group 4" id="4"/>
          <p:cNvGrpSpPr/>
          <p:nvPr/>
        </p:nvGrpSpPr>
        <p:grpSpPr>
          <a:xfrm rot="0">
            <a:off x="1703359" y="5158824"/>
            <a:ext cx="14881282" cy="602142"/>
            <a:chOff x="0" y="0"/>
            <a:chExt cx="19841709" cy="802856"/>
          </a:xfrm>
        </p:grpSpPr>
        <p:sp>
          <p:nvSpPr>
            <p:cNvPr name="Freeform 5" id="5"/>
            <p:cNvSpPr/>
            <p:nvPr/>
          </p:nvSpPr>
          <p:spPr>
            <a:xfrm flipH="false" flipV="false" rot="0">
              <a:off x="0" y="0"/>
              <a:ext cx="19841718" cy="802894"/>
            </a:xfrm>
            <a:custGeom>
              <a:avLst/>
              <a:gdLst/>
              <a:ahLst/>
              <a:cxnLst/>
              <a:rect r="r" b="b" t="t" l="l"/>
              <a:pathLst>
                <a:path h="802894" w="19841718">
                  <a:moveTo>
                    <a:pt x="0" y="0"/>
                  </a:moveTo>
                  <a:lnTo>
                    <a:pt x="19841718" y="0"/>
                  </a:lnTo>
                  <a:lnTo>
                    <a:pt x="19841718" y="802894"/>
                  </a:lnTo>
                  <a:lnTo>
                    <a:pt x="0" y="802894"/>
                  </a:lnTo>
                  <a:close/>
                </a:path>
              </a:pathLst>
            </a:custGeom>
            <a:solidFill>
              <a:srgbClr val="90113E">
                <a:alpha val="0"/>
              </a:srgbClr>
            </a:solidFill>
          </p:spPr>
        </p:sp>
      </p:grpSp>
      <p:grpSp>
        <p:nvGrpSpPr>
          <p:cNvPr name="Group 6" id="6"/>
          <p:cNvGrpSpPr/>
          <p:nvPr/>
        </p:nvGrpSpPr>
        <p:grpSpPr>
          <a:xfrm rot="0">
            <a:off x="1703359" y="6346573"/>
            <a:ext cx="14881282" cy="602142"/>
            <a:chOff x="0" y="0"/>
            <a:chExt cx="19841709" cy="802856"/>
          </a:xfrm>
        </p:grpSpPr>
        <p:sp>
          <p:nvSpPr>
            <p:cNvPr name="Freeform 7" id="7"/>
            <p:cNvSpPr/>
            <p:nvPr/>
          </p:nvSpPr>
          <p:spPr>
            <a:xfrm flipH="false" flipV="false" rot="0">
              <a:off x="0" y="0"/>
              <a:ext cx="19841718" cy="802894"/>
            </a:xfrm>
            <a:custGeom>
              <a:avLst/>
              <a:gdLst/>
              <a:ahLst/>
              <a:cxnLst/>
              <a:rect r="r" b="b" t="t" l="l"/>
              <a:pathLst>
                <a:path h="802894" w="19841718">
                  <a:moveTo>
                    <a:pt x="0" y="0"/>
                  </a:moveTo>
                  <a:lnTo>
                    <a:pt x="19841718" y="0"/>
                  </a:lnTo>
                  <a:lnTo>
                    <a:pt x="19841718" y="802894"/>
                  </a:lnTo>
                  <a:lnTo>
                    <a:pt x="0" y="802894"/>
                  </a:lnTo>
                  <a:close/>
                </a:path>
              </a:pathLst>
            </a:custGeom>
            <a:solidFill>
              <a:srgbClr val="90113E">
                <a:alpha val="0"/>
              </a:srgbClr>
            </a:solidFill>
          </p:spPr>
        </p:sp>
      </p:grpSp>
      <p:grpSp>
        <p:nvGrpSpPr>
          <p:cNvPr name="Group 8" id="8"/>
          <p:cNvGrpSpPr/>
          <p:nvPr/>
        </p:nvGrpSpPr>
        <p:grpSpPr>
          <a:xfrm rot="0">
            <a:off x="1703359" y="7534322"/>
            <a:ext cx="14881282" cy="602142"/>
            <a:chOff x="0" y="0"/>
            <a:chExt cx="19841709" cy="802856"/>
          </a:xfrm>
        </p:grpSpPr>
        <p:sp>
          <p:nvSpPr>
            <p:cNvPr name="Freeform 9" id="9"/>
            <p:cNvSpPr/>
            <p:nvPr/>
          </p:nvSpPr>
          <p:spPr>
            <a:xfrm flipH="false" flipV="false" rot="0">
              <a:off x="0" y="0"/>
              <a:ext cx="19841718" cy="802894"/>
            </a:xfrm>
            <a:custGeom>
              <a:avLst/>
              <a:gdLst/>
              <a:ahLst/>
              <a:cxnLst/>
              <a:rect r="r" b="b" t="t" l="l"/>
              <a:pathLst>
                <a:path h="802894" w="19841718">
                  <a:moveTo>
                    <a:pt x="0" y="0"/>
                  </a:moveTo>
                  <a:lnTo>
                    <a:pt x="19841718" y="0"/>
                  </a:lnTo>
                  <a:lnTo>
                    <a:pt x="19841718" y="802894"/>
                  </a:lnTo>
                  <a:lnTo>
                    <a:pt x="0" y="802894"/>
                  </a:lnTo>
                  <a:close/>
                </a:path>
              </a:pathLst>
            </a:custGeom>
            <a:solidFill>
              <a:srgbClr val="90113E">
                <a:alpha val="0"/>
              </a:srgbClr>
            </a:solidFill>
          </p:spPr>
        </p:sp>
      </p:grpSp>
      <p:grpSp>
        <p:nvGrpSpPr>
          <p:cNvPr name="Group 10" id="10"/>
          <p:cNvGrpSpPr/>
          <p:nvPr/>
        </p:nvGrpSpPr>
        <p:grpSpPr>
          <a:xfrm rot="0">
            <a:off x="-602092" y="8998522"/>
            <a:ext cx="18890092" cy="2585870"/>
            <a:chOff x="0" y="0"/>
            <a:chExt cx="25186789" cy="3447827"/>
          </a:xfrm>
        </p:grpSpPr>
        <p:sp>
          <p:nvSpPr>
            <p:cNvPr name="Freeform 11" id="11"/>
            <p:cNvSpPr/>
            <p:nvPr/>
          </p:nvSpPr>
          <p:spPr>
            <a:xfrm flipH="false" flipV="false" rot="0">
              <a:off x="0" y="0"/>
              <a:ext cx="25186767" cy="3447796"/>
            </a:xfrm>
            <a:custGeom>
              <a:avLst/>
              <a:gdLst/>
              <a:ahLst/>
              <a:cxnLst/>
              <a:rect r="r" b="b" t="t" l="l"/>
              <a:pathLst>
                <a:path h="3447796" w="25186767">
                  <a:moveTo>
                    <a:pt x="0" y="0"/>
                  </a:moveTo>
                  <a:lnTo>
                    <a:pt x="25186767" y="0"/>
                  </a:lnTo>
                  <a:lnTo>
                    <a:pt x="25186767" y="3447796"/>
                  </a:lnTo>
                  <a:lnTo>
                    <a:pt x="0" y="3447796"/>
                  </a:lnTo>
                  <a:close/>
                </a:path>
              </a:pathLst>
            </a:custGeom>
            <a:solidFill>
              <a:srgbClr val="90113E"/>
            </a:solidFill>
          </p:spPr>
        </p:sp>
      </p:grpSp>
      <p:grpSp>
        <p:nvGrpSpPr>
          <p:cNvPr name="Group 12" id="12"/>
          <p:cNvGrpSpPr/>
          <p:nvPr/>
        </p:nvGrpSpPr>
        <p:grpSpPr>
          <a:xfrm rot="0">
            <a:off x="0" y="0"/>
            <a:ext cx="6812379" cy="8998522"/>
            <a:chOff x="0" y="0"/>
            <a:chExt cx="9083172" cy="11998029"/>
          </a:xfrm>
        </p:grpSpPr>
        <p:sp>
          <p:nvSpPr>
            <p:cNvPr name="Freeform 13" id="13"/>
            <p:cNvSpPr/>
            <p:nvPr/>
          </p:nvSpPr>
          <p:spPr>
            <a:xfrm flipH="false" flipV="false" rot="0">
              <a:off x="0" y="0"/>
              <a:ext cx="9083167" cy="11998071"/>
            </a:xfrm>
            <a:custGeom>
              <a:avLst/>
              <a:gdLst/>
              <a:ahLst/>
              <a:cxnLst/>
              <a:rect r="r" b="b" t="t" l="l"/>
              <a:pathLst>
                <a:path h="11998071" w="9083167">
                  <a:moveTo>
                    <a:pt x="6935089" y="11998071"/>
                  </a:moveTo>
                  <a:lnTo>
                    <a:pt x="6528435" y="11998071"/>
                  </a:lnTo>
                  <a:lnTo>
                    <a:pt x="0" y="11387074"/>
                  </a:lnTo>
                  <a:lnTo>
                    <a:pt x="0" y="6214872"/>
                  </a:lnTo>
                  <a:lnTo>
                    <a:pt x="1284605" y="0"/>
                  </a:lnTo>
                  <a:lnTo>
                    <a:pt x="9083167" y="0"/>
                  </a:lnTo>
                  <a:lnTo>
                    <a:pt x="9083167" y="947674"/>
                  </a:lnTo>
                  <a:lnTo>
                    <a:pt x="6935089" y="11998071"/>
                  </a:lnTo>
                  <a:close/>
                </a:path>
              </a:pathLst>
            </a:custGeom>
            <a:blipFill>
              <a:blip r:embed="rId2"/>
              <a:stretch>
                <a:fillRect l="-67414" t="0" r="-67414" b="0"/>
              </a:stretch>
            </a:blipFill>
          </p:spPr>
        </p:sp>
      </p:grpSp>
      <p:grpSp>
        <p:nvGrpSpPr>
          <p:cNvPr name="Group 14" id="14"/>
          <p:cNvGrpSpPr/>
          <p:nvPr/>
        </p:nvGrpSpPr>
        <p:grpSpPr>
          <a:xfrm rot="0">
            <a:off x="0" y="0"/>
            <a:ext cx="6812379" cy="8998522"/>
            <a:chOff x="0" y="0"/>
            <a:chExt cx="9083172" cy="11998029"/>
          </a:xfrm>
        </p:grpSpPr>
        <p:sp>
          <p:nvSpPr>
            <p:cNvPr name="Freeform 15" id="15"/>
            <p:cNvSpPr/>
            <p:nvPr/>
          </p:nvSpPr>
          <p:spPr>
            <a:xfrm flipH="false" flipV="false" rot="0">
              <a:off x="0" y="0"/>
              <a:ext cx="9083167" cy="11997944"/>
            </a:xfrm>
            <a:custGeom>
              <a:avLst/>
              <a:gdLst/>
              <a:ahLst/>
              <a:cxnLst/>
              <a:rect r="r" b="b" t="t" l="l"/>
              <a:pathLst>
                <a:path h="11997944" w="9083167">
                  <a:moveTo>
                    <a:pt x="1284605" y="0"/>
                  </a:moveTo>
                  <a:lnTo>
                    <a:pt x="2678430" y="408432"/>
                  </a:lnTo>
                  <a:lnTo>
                    <a:pt x="0" y="6214872"/>
                  </a:lnTo>
                  <a:lnTo>
                    <a:pt x="1284605" y="0"/>
                  </a:lnTo>
                  <a:close/>
                  <a:moveTo>
                    <a:pt x="4589907" y="11353038"/>
                  </a:moveTo>
                  <a:lnTo>
                    <a:pt x="6935089" y="11997944"/>
                  </a:lnTo>
                  <a:lnTo>
                    <a:pt x="9083167" y="947674"/>
                  </a:lnTo>
                  <a:lnTo>
                    <a:pt x="4589907" y="11353038"/>
                  </a:lnTo>
                  <a:close/>
                </a:path>
              </a:pathLst>
            </a:custGeom>
            <a:solidFill>
              <a:srgbClr val="0BB6BC"/>
            </a:solidFill>
          </p:spPr>
        </p:sp>
      </p:grpSp>
      <p:grpSp>
        <p:nvGrpSpPr>
          <p:cNvPr name="Group 16" id="16"/>
          <p:cNvGrpSpPr/>
          <p:nvPr/>
        </p:nvGrpSpPr>
        <p:grpSpPr>
          <a:xfrm rot="0">
            <a:off x="7073058" y="1848489"/>
            <a:ext cx="10776185" cy="6287975"/>
            <a:chOff x="0" y="0"/>
            <a:chExt cx="14368247" cy="8383967"/>
          </a:xfrm>
        </p:grpSpPr>
        <p:sp>
          <p:nvSpPr>
            <p:cNvPr name="Freeform 17" id="17"/>
            <p:cNvSpPr/>
            <p:nvPr/>
          </p:nvSpPr>
          <p:spPr>
            <a:xfrm flipH="false" flipV="false" rot="0">
              <a:off x="0" y="0"/>
              <a:ext cx="14368247" cy="8383967"/>
            </a:xfrm>
            <a:custGeom>
              <a:avLst/>
              <a:gdLst/>
              <a:ahLst/>
              <a:cxnLst/>
              <a:rect r="r" b="b" t="t" l="l"/>
              <a:pathLst>
                <a:path h="8383967" w="14368247">
                  <a:moveTo>
                    <a:pt x="0" y="0"/>
                  </a:moveTo>
                  <a:lnTo>
                    <a:pt x="14368247" y="0"/>
                  </a:lnTo>
                  <a:lnTo>
                    <a:pt x="14368247" y="8383967"/>
                  </a:lnTo>
                  <a:lnTo>
                    <a:pt x="0" y="8383967"/>
                  </a:lnTo>
                  <a:close/>
                </a:path>
              </a:pathLst>
            </a:custGeom>
            <a:solidFill>
              <a:srgbClr val="000000">
                <a:alpha val="0"/>
              </a:srgbClr>
            </a:solidFill>
          </p:spPr>
        </p:sp>
        <p:sp>
          <p:nvSpPr>
            <p:cNvPr name="TextBox 18" id="18"/>
            <p:cNvSpPr txBox="true"/>
            <p:nvPr/>
          </p:nvSpPr>
          <p:spPr>
            <a:xfrm>
              <a:off x="0" y="-57150"/>
              <a:ext cx="14368247" cy="8441117"/>
            </a:xfrm>
            <a:prstGeom prst="rect">
              <a:avLst/>
            </a:prstGeom>
          </p:spPr>
          <p:txBody>
            <a:bodyPr anchor="t" rtlCol="false" tIns="0" lIns="0" bIns="0" rIns="0"/>
            <a:lstStyle/>
            <a:p>
              <a:pPr algn="just" marL="561125" indent="-280563" lvl="1">
                <a:lnSpc>
                  <a:spcPts val="3638"/>
                </a:lnSpc>
                <a:buAutoNum type="arabicPeriod" startAt="1"/>
              </a:pPr>
              <a:r>
                <a:rPr lang="en-US" sz="2599">
                  <a:solidFill>
                    <a:srgbClr val="000000"/>
                  </a:solidFill>
                  <a:latin typeface="Garet"/>
                  <a:ea typeface="Garet"/>
                  <a:cs typeface="Garet"/>
                  <a:sym typeface="Garet"/>
                </a:rPr>
                <a:t>Twiga Foods connects farmers to vendors but focuses on urban delivery and lacks AI-powered insights.</a:t>
              </a:r>
            </a:p>
            <a:p>
              <a:pPr algn="just" marL="561125" indent="-280563" lvl="1">
                <a:lnSpc>
                  <a:spcPts val="3638"/>
                </a:lnSpc>
                <a:buAutoNum type="arabicPeriod" startAt="1"/>
              </a:pPr>
              <a:r>
                <a:rPr lang="en-US" sz="2599">
                  <a:solidFill>
                    <a:srgbClr val="000000"/>
                  </a:solidFill>
                  <a:latin typeface="Garet"/>
                  <a:ea typeface="Garet"/>
                  <a:cs typeface="Garet"/>
                  <a:sym typeface="Garet"/>
                </a:rPr>
                <a:t>iProcure handles agro-input logistics, not post-harvest    market access.</a:t>
              </a:r>
            </a:p>
            <a:p>
              <a:pPr algn="just" marL="561125" indent="-280563" lvl="1">
                <a:lnSpc>
                  <a:spcPts val="3638"/>
                </a:lnSpc>
                <a:buAutoNum type="arabicPeriod" startAt="1"/>
              </a:pPr>
              <a:r>
                <a:rPr lang="en-US" sz="2599">
                  <a:solidFill>
                    <a:srgbClr val="000000"/>
                  </a:solidFill>
                  <a:latin typeface="Garet"/>
                  <a:ea typeface="Garet"/>
                  <a:cs typeface="Garet"/>
                  <a:sym typeface="Garet"/>
                </a:rPr>
                <a:t>FarmDrive offers farm credit scoring, but doesn’t enable produce sales.</a:t>
              </a:r>
            </a:p>
            <a:p>
              <a:pPr algn="just">
                <a:lnSpc>
                  <a:spcPts val="3638"/>
                </a:lnSpc>
              </a:pPr>
            </a:p>
            <a:p>
              <a:pPr algn="just">
                <a:lnSpc>
                  <a:spcPts val="3638"/>
                </a:lnSpc>
              </a:pPr>
              <a:r>
                <a:rPr lang="en-US" sz="2599">
                  <a:solidFill>
                    <a:srgbClr val="000000"/>
                  </a:solidFill>
                  <a:latin typeface="Garet"/>
                  <a:ea typeface="Garet"/>
                  <a:cs typeface="Garet"/>
                  <a:sym typeface="Garet"/>
                </a:rPr>
                <a:t>Our Edge:</a:t>
              </a:r>
            </a:p>
            <a:p>
              <a:pPr algn="just">
                <a:lnSpc>
                  <a:spcPts val="3638"/>
                </a:lnSpc>
              </a:pPr>
              <a:r>
                <a:rPr lang="en-US" sz="2599">
                  <a:solidFill>
                    <a:srgbClr val="000000"/>
                  </a:solidFill>
                  <a:latin typeface="Garet"/>
                  <a:ea typeface="Garet"/>
                  <a:cs typeface="Garet"/>
                  <a:sym typeface="Garet"/>
                </a:rPr>
                <a:t>We combine market access, price prediction, and smart logistics in one platform tailored for smallholder farmers in rural areas. No one else in the region offers this full-stack solution.</a:t>
              </a:r>
            </a:p>
            <a:p>
              <a:pPr algn="just">
                <a:lnSpc>
                  <a:spcPts val="3218"/>
                </a:lnSpc>
              </a:pPr>
            </a:p>
          </p:txBody>
        </p:sp>
      </p:grpSp>
      <p:grpSp>
        <p:nvGrpSpPr>
          <p:cNvPr name="Group 19" id="19"/>
          <p:cNvGrpSpPr/>
          <p:nvPr/>
        </p:nvGrpSpPr>
        <p:grpSpPr>
          <a:xfrm rot="0">
            <a:off x="8508761" y="257175"/>
            <a:ext cx="8750539" cy="1238250"/>
            <a:chOff x="0" y="0"/>
            <a:chExt cx="11667385" cy="1651000"/>
          </a:xfrm>
        </p:grpSpPr>
        <p:sp>
          <p:nvSpPr>
            <p:cNvPr name="Freeform 20" id="20"/>
            <p:cNvSpPr/>
            <p:nvPr/>
          </p:nvSpPr>
          <p:spPr>
            <a:xfrm flipH="false" flipV="false" rot="0">
              <a:off x="0" y="0"/>
              <a:ext cx="11667386" cy="1651000"/>
            </a:xfrm>
            <a:custGeom>
              <a:avLst/>
              <a:gdLst/>
              <a:ahLst/>
              <a:cxnLst/>
              <a:rect r="r" b="b" t="t" l="l"/>
              <a:pathLst>
                <a:path h="1651000" w="11667386">
                  <a:moveTo>
                    <a:pt x="0" y="0"/>
                  </a:moveTo>
                  <a:lnTo>
                    <a:pt x="11667386" y="0"/>
                  </a:lnTo>
                  <a:lnTo>
                    <a:pt x="11667386" y="1651000"/>
                  </a:lnTo>
                  <a:lnTo>
                    <a:pt x="0" y="1651000"/>
                  </a:lnTo>
                  <a:close/>
                </a:path>
              </a:pathLst>
            </a:custGeom>
            <a:solidFill>
              <a:srgbClr val="000000">
                <a:alpha val="0"/>
              </a:srgbClr>
            </a:solidFill>
          </p:spPr>
        </p:sp>
        <p:sp>
          <p:nvSpPr>
            <p:cNvPr name="TextBox 21" id="21"/>
            <p:cNvSpPr txBox="true"/>
            <p:nvPr/>
          </p:nvSpPr>
          <p:spPr>
            <a:xfrm>
              <a:off x="0" y="-9525"/>
              <a:ext cx="11667385" cy="1660525"/>
            </a:xfrm>
            <a:prstGeom prst="rect">
              <a:avLst/>
            </a:prstGeom>
          </p:spPr>
          <p:txBody>
            <a:bodyPr anchor="t" rtlCol="false" tIns="0" lIns="0" bIns="0" rIns="0"/>
            <a:lstStyle/>
            <a:p>
              <a:pPr algn="ctr">
                <a:lnSpc>
                  <a:spcPts val="9718"/>
                </a:lnSpc>
              </a:pPr>
              <a:r>
                <a:rPr lang="en-US" sz="8098" b="true">
                  <a:solidFill>
                    <a:srgbClr val="0BB6BC"/>
                  </a:solidFill>
                  <a:latin typeface="Barlow Bold"/>
                  <a:ea typeface="Barlow Bold"/>
                  <a:cs typeface="Barlow Bold"/>
                  <a:sym typeface="Barlow Bold"/>
                </a:rPr>
                <a:t>Competitors</a:t>
              </a:r>
            </a:p>
          </p:txBody>
        </p:sp>
      </p:grpSp>
      <p:grpSp>
        <p:nvGrpSpPr>
          <p:cNvPr name="Group 22" id="22"/>
          <p:cNvGrpSpPr/>
          <p:nvPr/>
        </p:nvGrpSpPr>
        <p:grpSpPr>
          <a:xfrm rot="0">
            <a:off x="17050357" y="9484941"/>
            <a:ext cx="798886" cy="347980"/>
            <a:chOff x="0" y="0"/>
            <a:chExt cx="1065181" cy="463973"/>
          </a:xfrm>
        </p:grpSpPr>
        <p:sp>
          <p:nvSpPr>
            <p:cNvPr name="Freeform 23" id="23"/>
            <p:cNvSpPr/>
            <p:nvPr/>
          </p:nvSpPr>
          <p:spPr>
            <a:xfrm flipH="false" flipV="false" rot="0">
              <a:off x="0" y="0"/>
              <a:ext cx="1065181" cy="463973"/>
            </a:xfrm>
            <a:custGeom>
              <a:avLst/>
              <a:gdLst/>
              <a:ahLst/>
              <a:cxnLst/>
              <a:rect r="r" b="b" t="t" l="l"/>
              <a:pathLst>
                <a:path h="463973" w="1065181">
                  <a:moveTo>
                    <a:pt x="0" y="0"/>
                  </a:moveTo>
                  <a:lnTo>
                    <a:pt x="1065181" y="0"/>
                  </a:lnTo>
                  <a:lnTo>
                    <a:pt x="1065181" y="463973"/>
                  </a:lnTo>
                  <a:lnTo>
                    <a:pt x="0" y="463973"/>
                  </a:lnTo>
                  <a:close/>
                </a:path>
              </a:pathLst>
            </a:custGeom>
            <a:solidFill>
              <a:srgbClr val="000000">
                <a:alpha val="0"/>
              </a:srgbClr>
            </a:solidFill>
          </p:spPr>
        </p:sp>
        <p:sp>
          <p:nvSpPr>
            <p:cNvPr name="TextBox 24" id="24"/>
            <p:cNvSpPr txBox="true"/>
            <p:nvPr/>
          </p:nvSpPr>
          <p:spPr>
            <a:xfrm>
              <a:off x="0" y="-19050"/>
              <a:ext cx="1065181" cy="483023"/>
            </a:xfrm>
            <a:prstGeom prst="rect">
              <a:avLst/>
            </a:prstGeom>
          </p:spPr>
          <p:txBody>
            <a:bodyPr anchor="t" rtlCol="false" tIns="0" lIns="0" bIns="0" rIns="0"/>
            <a:lstStyle/>
            <a:p>
              <a:pPr algn="r">
                <a:lnSpc>
                  <a:spcPts val="2749"/>
                </a:lnSpc>
              </a:pPr>
              <a:r>
                <a:rPr lang="en-US" sz="2199" b="true">
                  <a:solidFill>
                    <a:srgbClr val="000000"/>
                  </a:solidFill>
                  <a:latin typeface="Barlow Bold"/>
                  <a:ea typeface="Barlow Bold"/>
                  <a:cs typeface="Barlow Bold"/>
                  <a:sym typeface="Barlow Bold"/>
                </a:rPr>
                <a:t>23</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105725" y="1028700"/>
            <a:ext cx="13944632" cy="1228725"/>
            <a:chOff x="0" y="0"/>
            <a:chExt cx="18592843" cy="1638300"/>
          </a:xfrm>
        </p:grpSpPr>
        <p:sp>
          <p:nvSpPr>
            <p:cNvPr name="Freeform 3" id="3"/>
            <p:cNvSpPr/>
            <p:nvPr/>
          </p:nvSpPr>
          <p:spPr>
            <a:xfrm flipH="false" flipV="false" rot="0">
              <a:off x="0" y="0"/>
              <a:ext cx="18592843" cy="1638300"/>
            </a:xfrm>
            <a:custGeom>
              <a:avLst/>
              <a:gdLst/>
              <a:ahLst/>
              <a:cxnLst/>
              <a:rect r="r" b="b" t="t" l="l"/>
              <a:pathLst>
                <a:path h="1638300" w="18592843">
                  <a:moveTo>
                    <a:pt x="0" y="0"/>
                  </a:moveTo>
                  <a:lnTo>
                    <a:pt x="18592843" y="0"/>
                  </a:lnTo>
                  <a:lnTo>
                    <a:pt x="18592843" y="1638300"/>
                  </a:lnTo>
                  <a:lnTo>
                    <a:pt x="0" y="1638300"/>
                  </a:lnTo>
                  <a:close/>
                </a:path>
              </a:pathLst>
            </a:custGeom>
            <a:solidFill>
              <a:srgbClr val="000000">
                <a:alpha val="0"/>
              </a:srgbClr>
            </a:solidFill>
          </p:spPr>
        </p:sp>
        <p:sp>
          <p:nvSpPr>
            <p:cNvPr name="TextBox 4" id="4"/>
            <p:cNvSpPr txBox="true"/>
            <p:nvPr/>
          </p:nvSpPr>
          <p:spPr>
            <a:xfrm>
              <a:off x="0" y="0"/>
              <a:ext cx="18592843" cy="1638300"/>
            </a:xfrm>
            <a:prstGeom prst="rect">
              <a:avLst/>
            </a:prstGeom>
          </p:spPr>
          <p:txBody>
            <a:bodyPr anchor="t" rtlCol="false" tIns="0" lIns="0" bIns="0" rIns="0"/>
            <a:lstStyle/>
            <a:p>
              <a:pPr algn="l">
                <a:lnSpc>
                  <a:spcPts val="9720"/>
                </a:lnSpc>
              </a:pPr>
              <a:r>
                <a:rPr lang="en-US" sz="8100" b="true">
                  <a:solidFill>
                    <a:srgbClr val="0BB6BC"/>
                  </a:solidFill>
                  <a:latin typeface="Barlow Bold"/>
                  <a:ea typeface="Barlow Bold"/>
                  <a:cs typeface="Barlow Bold"/>
                  <a:sym typeface="Barlow Bold"/>
                </a:rPr>
                <a:t>Competitive Advantage</a:t>
              </a:r>
            </a:p>
          </p:txBody>
        </p:sp>
      </p:grpSp>
      <p:grpSp>
        <p:nvGrpSpPr>
          <p:cNvPr name="Group 5" id="5"/>
          <p:cNvGrpSpPr/>
          <p:nvPr/>
        </p:nvGrpSpPr>
        <p:grpSpPr>
          <a:xfrm rot="0">
            <a:off x="3105725" y="2483650"/>
            <a:ext cx="12322393" cy="5614466"/>
            <a:chOff x="0" y="0"/>
            <a:chExt cx="16429858" cy="7485954"/>
          </a:xfrm>
        </p:grpSpPr>
        <p:sp>
          <p:nvSpPr>
            <p:cNvPr name="Freeform 6" id="6"/>
            <p:cNvSpPr/>
            <p:nvPr/>
          </p:nvSpPr>
          <p:spPr>
            <a:xfrm flipH="false" flipV="false" rot="0">
              <a:off x="0" y="0"/>
              <a:ext cx="16429858" cy="7485954"/>
            </a:xfrm>
            <a:custGeom>
              <a:avLst/>
              <a:gdLst/>
              <a:ahLst/>
              <a:cxnLst/>
              <a:rect r="r" b="b" t="t" l="l"/>
              <a:pathLst>
                <a:path h="7485954" w="16429858">
                  <a:moveTo>
                    <a:pt x="0" y="0"/>
                  </a:moveTo>
                  <a:lnTo>
                    <a:pt x="16429858" y="0"/>
                  </a:lnTo>
                  <a:lnTo>
                    <a:pt x="16429858" y="7485954"/>
                  </a:lnTo>
                  <a:lnTo>
                    <a:pt x="0" y="7485954"/>
                  </a:lnTo>
                  <a:close/>
                </a:path>
              </a:pathLst>
            </a:custGeom>
            <a:solidFill>
              <a:srgbClr val="000000">
                <a:alpha val="0"/>
              </a:srgbClr>
            </a:solidFill>
          </p:spPr>
        </p:sp>
        <p:sp>
          <p:nvSpPr>
            <p:cNvPr name="TextBox 7" id="7"/>
            <p:cNvSpPr txBox="true"/>
            <p:nvPr/>
          </p:nvSpPr>
          <p:spPr>
            <a:xfrm>
              <a:off x="0" y="-85725"/>
              <a:ext cx="16429858" cy="7571679"/>
            </a:xfrm>
            <a:prstGeom prst="rect">
              <a:avLst/>
            </a:prstGeom>
          </p:spPr>
          <p:txBody>
            <a:bodyPr anchor="t" rtlCol="false" tIns="0" lIns="0" bIns="0" rIns="0"/>
            <a:lstStyle/>
            <a:p>
              <a:pPr algn="l">
                <a:lnSpc>
                  <a:spcPts val="5739"/>
                </a:lnSpc>
              </a:pPr>
              <a:r>
                <a:rPr lang="en-US" sz="4098" b="true">
                  <a:solidFill>
                    <a:srgbClr val="90113E"/>
                  </a:solidFill>
                  <a:latin typeface="Barlow Bold"/>
                  <a:ea typeface="Barlow Bold"/>
                  <a:cs typeface="Barlow Bold"/>
                  <a:sym typeface="Barlow Bold"/>
                </a:rPr>
                <a:t>AgriMarket AI offers an all-in-one solution combining AI-powered pricing, direct farmer-to-buyer trading, and logistics optimization, tailored specifically for smallholder farmers in rural East Africa. While others focus on isolated problems, we integrate the entire agricultural supply chain into one smart, scalable platform.</a:t>
              </a:r>
            </a:p>
          </p:txBody>
        </p:sp>
      </p:grpSp>
      <p:grpSp>
        <p:nvGrpSpPr>
          <p:cNvPr name="Group 8" id="8"/>
          <p:cNvGrpSpPr/>
          <p:nvPr/>
        </p:nvGrpSpPr>
        <p:grpSpPr>
          <a:xfrm rot="0">
            <a:off x="0" y="0"/>
            <a:ext cx="1902317" cy="10287000"/>
            <a:chOff x="0" y="0"/>
            <a:chExt cx="2536423" cy="13716000"/>
          </a:xfrm>
        </p:grpSpPr>
        <p:sp>
          <p:nvSpPr>
            <p:cNvPr name="Freeform 9" id="9"/>
            <p:cNvSpPr/>
            <p:nvPr/>
          </p:nvSpPr>
          <p:spPr>
            <a:xfrm flipH="false" flipV="false" rot="0">
              <a:off x="0" y="0"/>
              <a:ext cx="2536444" cy="13716000"/>
            </a:xfrm>
            <a:custGeom>
              <a:avLst/>
              <a:gdLst/>
              <a:ahLst/>
              <a:cxnLst/>
              <a:rect r="r" b="b" t="t" l="l"/>
              <a:pathLst>
                <a:path h="13716000" w="2536444">
                  <a:moveTo>
                    <a:pt x="0" y="0"/>
                  </a:moveTo>
                  <a:lnTo>
                    <a:pt x="2536444" y="0"/>
                  </a:lnTo>
                  <a:lnTo>
                    <a:pt x="2536444" y="13716000"/>
                  </a:lnTo>
                  <a:lnTo>
                    <a:pt x="0" y="13716000"/>
                  </a:lnTo>
                  <a:close/>
                </a:path>
              </a:pathLst>
            </a:custGeom>
            <a:solidFill>
              <a:srgbClr val="90113E"/>
            </a:solidFill>
          </p:spPr>
        </p:sp>
      </p:grpSp>
      <p:sp>
        <p:nvSpPr>
          <p:cNvPr name="Freeform 10" id="10"/>
          <p:cNvSpPr/>
          <p:nvPr/>
        </p:nvSpPr>
        <p:spPr>
          <a:xfrm flipH="false" flipV="false" rot="0">
            <a:off x="-1902317" y="-84320"/>
            <a:ext cx="3804634" cy="10455640"/>
          </a:xfrm>
          <a:custGeom>
            <a:avLst/>
            <a:gdLst/>
            <a:ahLst/>
            <a:cxnLst/>
            <a:rect r="r" b="b" t="t" l="l"/>
            <a:pathLst>
              <a:path h="10455640" w="3804634">
                <a:moveTo>
                  <a:pt x="0" y="0"/>
                </a:moveTo>
                <a:lnTo>
                  <a:pt x="3804634" y="0"/>
                </a:lnTo>
                <a:lnTo>
                  <a:pt x="3804634" y="10455640"/>
                </a:lnTo>
                <a:lnTo>
                  <a:pt x="0" y="10455640"/>
                </a:lnTo>
                <a:lnTo>
                  <a:pt x="0" y="0"/>
                </a:lnTo>
                <a:close/>
              </a:path>
            </a:pathLst>
          </a:custGeom>
          <a:blipFill>
            <a:blip r:embed="rId2">
              <a:extLst>
                <a:ext uri="{96DAC541-7B7A-43D3-8B79-37D633B846F1}">
                  <asvg:svgBlip xmlns:asvg="http://schemas.microsoft.com/office/drawing/2016/SVG/main" r:embed="rId3"/>
                </a:ext>
              </a:extLst>
            </a:blip>
            <a:stretch>
              <a:fillRect l="-87406" t="0" r="-87406" b="0"/>
            </a:stretch>
          </a:blipFill>
        </p:spPr>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03359" y="3971075"/>
            <a:ext cx="14881282" cy="602142"/>
            <a:chOff x="0" y="0"/>
            <a:chExt cx="19841709" cy="802856"/>
          </a:xfrm>
        </p:grpSpPr>
        <p:sp>
          <p:nvSpPr>
            <p:cNvPr name="Freeform 3" id="3"/>
            <p:cNvSpPr/>
            <p:nvPr/>
          </p:nvSpPr>
          <p:spPr>
            <a:xfrm flipH="false" flipV="false" rot="0">
              <a:off x="0" y="0"/>
              <a:ext cx="19841718" cy="802894"/>
            </a:xfrm>
            <a:custGeom>
              <a:avLst/>
              <a:gdLst/>
              <a:ahLst/>
              <a:cxnLst/>
              <a:rect r="r" b="b" t="t" l="l"/>
              <a:pathLst>
                <a:path h="802894" w="19841718">
                  <a:moveTo>
                    <a:pt x="0" y="0"/>
                  </a:moveTo>
                  <a:lnTo>
                    <a:pt x="19841718" y="0"/>
                  </a:lnTo>
                  <a:lnTo>
                    <a:pt x="19841718" y="802894"/>
                  </a:lnTo>
                  <a:lnTo>
                    <a:pt x="0" y="802894"/>
                  </a:lnTo>
                  <a:close/>
                </a:path>
              </a:pathLst>
            </a:custGeom>
            <a:solidFill>
              <a:srgbClr val="90113E">
                <a:alpha val="0"/>
              </a:srgbClr>
            </a:solidFill>
          </p:spPr>
        </p:sp>
      </p:grpSp>
      <p:grpSp>
        <p:nvGrpSpPr>
          <p:cNvPr name="Group 4" id="4"/>
          <p:cNvGrpSpPr/>
          <p:nvPr/>
        </p:nvGrpSpPr>
        <p:grpSpPr>
          <a:xfrm rot="0">
            <a:off x="1703359" y="5158824"/>
            <a:ext cx="14881282" cy="602142"/>
            <a:chOff x="0" y="0"/>
            <a:chExt cx="19841709" cy="802856"/>
          </a:xfrm>
        </p:grpSpPr>
        <p:sp>
          <p:nvSpPr>
            <p:cNvPr name="Freeform 5" id="5"/>
            <p:cNvSpPr/>
            <p:nvPr/>
          </p:nvSpPr>
          <p:spPr>
            <a:xfrm flipH="false" flipV="false" rot="0">
              <a:off x="0" y="0"/>
              <a:ext cx="19841718" cy="802894"/>
            </a:xfrm>
            <a:custGeom>
              <a:avLst/>
              <a:gdLst/>
              <a:ahLst/>
              <a:cxnLst/>
              <a:rect r="r" b="b" t="t" l="l"/>
              <a:pathLst>
                <a:path h="802894" w="19841718">
                  <a:moveTo>
                    <a:pt x="0" y="0"/>
                  </a:moveTo>
                  <a:lnTo>
                    <a:pt x="19841718" y="0"/>
                  </a:lnTo>
                  <a:lnTo>
                    <a:pt x="19841718" y="802894"/>
                  </a:lnTo>
                  <a:lnTo>
                    <a:pt x="0" y="802894"/>
                  </a:lnTo>
                  <a:close/>
                </a:path>
              </a:pathLst>
            </a:custGeom>
            <a:solidFill>
              <a:srgbClr val="90113E">
                <a:alpha val="0"/>
              </a:srgbClr>
            </a:solidFill>
          </p:spPr>
        </p:sp>
      </p:grpSp>
      <p:grpSp>
        <p:nvGrpSpPr>
          <p:cNvPr name="Group 6" id="6"/>
          <p:cNvGrpSpPr/>
          <p:nvPr/>
        </p:nvGrpSpPr>
        <p:grpSpPr>
          <a:xfrm rot="0">
            <a:off x="1703359" y="6346573"/>
            <a:ext cx="14881282" cy="602142"/>
            <a:chOff x="0" y="0"/>
            <a:chExt cx="19841709" cy="802856"/>
          </a:xfrm>
        </p:grpSpPr>
        <p:sp>
          <p:nvSpPr>
            <p:cNvPr name="Freeform 7" id="7"/>
            <p:cNvSpPr/>
            <p:nvPr/>
          </p:nvSpPr>
          <p:spPr>
            <a:xfrm flipH="false" flipV="false" rot="0">
              <a:off x="0" y="0"/>
              <a:ext cx="19841718" cy="802894"/>
            </a:xfrm>
            <a:custGeom>
              <a:avLst/>
              <a:gdLst/>
              <a:ahLst/>
              <a:cxnLst/>
              <a:rect r="r" b="b" t="t" l="l"/>
              <a:pathLst>
                <a:path h="802894" w="19841718">
                  <a:moveTo>
                    <a:pt x="0" y="0"/>
                  </a:moveTo>
                  <a:lnTo>
                    <a:pt x="19841718" y="0"/>
                  </a:lnTo>
                  <a:lnTo>
                    <a:pt x="19841718" y="802894"/>
                  </a:lnTo>
                  <a:lnTo>
                    <a:pt x="0" y="802894"/>
                  </a:lnTo>
                  <a:close/>
                </a:path>
              </a:pathLst>
            </a:custGeom>
            <a:solidFill>
              <a:srgbClr val="90113E">
                <a:alpha val="0"/>
              </a:srgbClr>
            </a:solidFill>
          </p:spPr>
        </p:sp>
      </p:grpSp>
      <p:grpSp>
        <p:nvGrpSpPr>
          <p:cNvPr name="Group 8" id="8"/>
          <p:cNvGrpSpPr/>
          <p:nvPr/>
        </p:nvGrpSpPr>
        <p:grpSpPr>
          <a:xfrm rot="0">
            <a:off x="1703359" y="7534322"/>
            <a:ext cx="14881282" cy="602142"/>
            <a:chOff x="0" y="0"/>
            <a:chExt cx="19841709" cy="802856"/>
          </a:xfrm>
        </p:grpSpPr>
        <p:sp>
          <p:nvSpPr>
            <p:cNvPr name="Freeform 9" id="9"/>
            <p:cNvSpPr/>
            <p:nvPr/>
          </p:nvSpPr>
          <p:spPr>
            <a:xfrm flipH="false" flipV="false" rot="0">
              <a:off x="0" y="0"/>
              <a:ext cx="19841718" cy="802894"/>
            </a:xfrm>
            <a:custGeom>
              <a:avLst/>
              <a:gdLst/>
              <a:ahLst/>
              <a:cxnLst/>
              <a:rect r="r" b="b" t="t" l="l"/>
              <a:pathLst>
                <a:path h="802894" w="19841718">
                  <a:moveTo>
                    <a:pt x="0" y="0"/>
                  </a:moveTo>
                  <a:lnTo>
                    <a:pt x="19841718" y="0"/>
                  </a:lnTo>
                  <a:lnTo>
                    <a:pt x="19841718" y="802894"/>
                  </a:lnTo>
                  <a:lnTo>
                    <a:pt x="0" y="802894"/>
                  </a:lnTo>
                  <a:close/>
                </a:path>
              </a:pathLst>
            </a:custGeom>
            <a:solidFill>
              <a:srgbClr val="90113E">
                <a:alpha val="0"/>
              </a:srgbClr>
            </a:solidFill>
          </p:spPr>
        </p:sp>
      </p:grpSp>
      <p:grpSp>
        <p:nvGrpSpPr>
          <p:cNvPr name="Group 10" id="10"/>
          <p:cNvGrpSpPr/>
          <p:nvPr/>
        </p:nvGrpSpPr>
        <p:grpSpPr>
          <a:xfrm rot="0">
            <a:off x="1693834" y="3348050"/>
            <a:ext cx="14900332" cy="19050"/>
            <a:chOff x="0" y="0"/>
            <a:chExt cx="19867109" cy="25400"/>
          </a:xfrm>
        </p:grpSpPr>
        <p:sp>
          <p:nvSpPr>
            <p:cNvPr name="Freeform 11" id="11"/>
            <p:cNvSpPr/>
            <p:nvPr/>
          </p:nvSpPr>
          <p:spPr>
            <a:xfrm flipH="false" flipV="false" rot="0">
              <a:off x="12700" y="0"/>
              <a:ext cx="19841718" cy="25400"/>
            </a:xfrm>
            <a:custGeom>
              <a:avLst/>
              <a:gdLst/>
              <a:ahLst/>
              <a:cxnLst/>
              <a:rect r="r" b="b" t="t" l="l"/>
              <a:pathLst>
                <a:path h="25400" w="19841718">
                  <a:moveTo>
                    <a:pt x="0" y="0"/>
                  </a:moveTo>
                  <a:lnTo>
                    <a:pt x="19841718" y="0"/>
                  </a:lnTo>
                  <a:lnTo>
                    <a:pt x="19841718" y="25400"/>
                  </a:lnTo>
                  <a:lnTo>
                    <a:pt x="0" y="25400"/>
                  </a:lnTo>
                  <a:close/>
                </a:path>
              </a:pathLst>
            </a:custGeom>
            <a:solidFill>
              <a:srgbClr val="90113E"/>
            </a:solidFill>
          </p:spPr>
        </p:sp>
      </p:grpSp>
      <p:grpSp>
        <p:nvGrpSpPr>
          <p:cNvPr name="Group 12" id="12"/>
          <p:cNvGrpSpPr/>
          <p:nvPr/>
        </p:nvGrpSpPr>
        <p:grpSpPr>
          <a:xfrm rot="0">
            <a:off x="1693834" y="8126939"/>
            <a:ext cx="14900332" cy="19050"/>
            <a:chOff x="0" y="0"/>
            <a:chExt cx="19867109" cy="25400"/>
          </a:xfrm>
        </p:grpSpPr>
        <p:sp>
          <p:nvSpPr>
            <p:cNvPr name="Freeform 13" id="13"/>
            <p:cNvSpPr/>
            <p:nvPr/>
          </p:nvSpPr>
          <p:spPr>
            <a:xfrm flipH="false" flipV="false" rot="0">
              <a:off x="12700" y="0"/>
              <a:ext cx="19841718" cy="25400"/>
            </a:xfrm>
            <a:custGeom>
              <a:avLst/>
              <a:gdLst/>
              <a:ahLst/>
              <a:cxnLst/>
              <a:rect r="r" b="b" t="t" l="l"/>
              <a:pathLst>
                <a:path h="25400" w="19841718">
                  <a:moveTo>
                    <a:pt x="0" y="0"/>
                  </a:moveTo>
                  <a:lnTo>
                    <a:pt x="19841718" y="0"/>
                  </a:lnTo>
                  <a:lnTo>
                    <a:pt x="19841718" y="25400"/>
                  </a:lnTo>
                  <a:lnTo>
                    <a:pt x="0" y="25400"/>
                  </a:lnTo>
                  <a:close/>
                </a:path>
              </a:pathLst>
            </a:custGeom>
            <a:solidFill>
              <a:srgbClr val="90113E"/>
            </a:solidFill>
          </p:spPr>
        </p:sp>
      </p:grpSp>
      <p:grpSp>
        <p:nvGrpSpPr>
          <p:cNvPr name="Group 14" id="14"/>
          <p:cNvGrpSpPr/>
          <p:nvPr/>
        </p:nvGrpSpPr>
        <p:grpSpPr>
          <a:xfrm rot="0">
            <a:off x="8659450" y="2473365"/>
            <a:ext cx="1972472" cy="894023"/>
            <a:chOff x="0" y="0"/>
            <a:chExt cx="2629963" cy="1192031"/>
          </a:xfrm>
        </p:grpSpPr>
        <p:sp>
          <p:nvSpPr>
            <p:cNvPr name="Freeform 15" id="15"/>
            <p:cNvSpPr/>
            <p:nvPr/>
          </p:nvSpPr>
          <p:spPr>
            <a:xfrm flipH="false" flipV="false" rot="0">
              <a:off x="0" y="0"/>
              <a:ext cx="2629916" cy="1192022"/>
            </a:xfrm>
            <a:custGeom>
              <a:avLst/>
              <a:gdLst/>
              <a:ahLst/>
              <a:cxnLst/>
              <a:rect r="r" b="b" t="t" l="l"/>
              <a:pathLst>
                <a:path h="1192022" w="2629916">
                  <a:moveTo>
                    <a:pt x="0" y="0"/>
                  </a:moveTo>
                  <a:lnTo>
                    <a:pt x="2629916" y="0"/>
                  </a:lnTo>
                  <a:lnTo>
                    <a:pt x="2629916" y="1192022"/>
                  </a:lnTo>
                  <a:lnTo>
                    <a:pt x="0" y="1192022"/>
                  </a:lnTo>
                  <a:close/>
                </a:path>
              </a:pathLst>
            </a:custGeom>
            <a:solidFill>
              <a:srgbClr val="FFFFFF"/>
            </a:solidFill>
          </p:spPr>
        </p:sp>
      </p:grpSp>
      <p:grpSp>
        <p:nvGrpSpPr>
          <p:cNvPr name="Group 16" id="16"/>
          <p:cNvGrpSpPr/>
          <p:nvPr/>
        </p:nvGrpSpPr>
        <p:grpSpPr>
          <a:xfrm rot="0">
            <a:off x="6673531" y="2473365"/>
            <a:ext cx="1972472" cy="894023"/>
            <a:chOff x="0" y="0"/>
            <a:chExt cx="2629963" cy="1192031"/>
          </a:xfrm>
        </p:grpSpPr>
        <p:sp>
          <p:nvSpPr>
            <p:cNvPr name="Freeform 17" id="17"/>
            <p:cNvSpPr/>
            <p:nvPr/>
          </p:nvSpPr>
          <p:spPr>
            <a:xfrm flipH="false" flipV="false" rot="0">
              <a:off x="0" y="0"/>
              <a:ext cx="2629916" cy="1192022"/>
            </a:xfrm>
            <a:custGeom>
              <a:avLst/>
              <a:gdLst/>
              <a:ahLst/>
              <a:cxnLst/>
              <a:rect r="r" b="b" t="t" l="l"/>
              <a:pathLst>
                <a:path h="1192022" w="2629916">
                  <a:moveTo>
                    <a:pt x="0" y="0"/>
                  </a:moveTo>
                  <a:lnTo>
                    <a:pt x="2629916" y="0"/>
                  </a:lnTo>
                  <a:lnTo>
                    <a:pt x="2629916" y="1192022"/>
                  </a:lnTo>
                  <a:lnTo>
                    <a:pt x="0" y="1192022"/>
                  </a:lnTo>
                  <a:close/>
                </a:path>
              </a:pathLst>
            </a:custGeom>
            <a:solidFill>
              <a:srgbClr val="FFFFFF"/>
            </a:solidFill>
          </p:spPr>
        </p:sp>
      </p:grpSp>
      <p:grpSp>
        <p:nvGrpSpPr>
          <p:cNvPr name="Group 18" id="18"/>
          <p:cNvGrpSpPr/>
          <p:nvPr/>
        </p:nvGrpSpPr>
        <p:grpSpPr>
          <a:xfrm rot="0">
            <a:off x="6913736" y="2694518"/>
            <a:ext cx="1524842" cy="391529"/>
            <a:chOff x="0" y="0"/>
            <a:chExt cx="2033123" cy="522039"/>
          </a:xfrm>
        </p:grpSpPr>
        <p:sp>
          <p:nvSpPr>
            <p:cNvPr name="Freeform 19" id="19"/>
            <p:cNvSpPr/>
            <p:nvPr/>
          </p:nvSpPr>
          <p:spPr>
            <a:xfrm flipH="false" flipV="false" rot="0">
              <a:off x="0" y="0"/>
              <a:ext cx="2033123" cy="522039"/>
            </a:xfrm>
            <a:custGeom>
              <a:avLst/>
              <a:gdLst/>
              <a:ahLst/>
              <a:cxnLst/>
              <a:rect r="r" b="b" t="t" l="l"/>
              <a:pathLst>
                <a:path h="522039" w="2033123">
                  <a:moveTo>
                    <a:pt x="0" y="0"/>
                  </a:moveTo>
                  <a:lnTo>
                    <a:pt x="2033123" y="0"/>
                  </a:lnTo>
                  <a:lnTo>
                    <a:pt x="2033123" y="522039"/>
                  </a:lnTo>
                  <a:lnTo>
                    <a:pt x="0" y="522039"/>
                  </a:lnTo>
                  <a:close/>
                </a:path>
              </a:pathLst>
            </a:custGeom>
            <a:solidFill>
              <a:srgbClr val="000000">
                <a:alpha val="0"/>
              </a:srgbClr>
            </a:solidFill>
          </p:spPr>
        </p:sp>
        <p:sp>
          <p:nvSpPr>
            <p:cNvPr name="TextBox 20" id="20"/>
            <p:cNvSpPr txBox="true"/>
            <p:nvPr/>
          </p:nvSpPr>
          <p:spPr>
            <a:xfrm>
              <a:off x="0" y="-47625"/>
              <a:ext cx="2033123" cy="569664"/>
            </a:xfrm>
            <a:prstGeom prst="rect">
              <a:avLst/>
            </a:prstGeom>
          </p:spPr>
          <p:txBody>
            <a:bodyPr anchor="t" rtlCol="false" tIns="0" lIns="0" bIns="0" rIns="0"/>
            <a:lstStyle/>
            <a:p>
              <a:pPr algn="ctr">
                <a:lnSpc>
                  <a:spcPts val="3220"/>
                </a:lnSpc>
              </a:pPr>
              <a:r>
                <a:rPr lang="en-US" sz="2300">
                  <a:solidFill>
                    <a:srgbClr val="90113E"/>
                  </a:solidFill>
                  <a:latin typeface="Barlow"/>
                  <a:ea typeface="Barlow"/>
                  <a:cs typeface="Barlow"/>
                  <a:sym typeface="Barlow"/>
                </a:rPr>
                <a:t>Month 1</a:t>
              </a:r>
            </a:p>
          </p:txBody>
        </p:sp>
      </p:grpSp>
      <p:grpSp>
        <p:nvGrpSpPr>
          <p:cNvPr name="Group 21" id="21"/>
          <p:cNvGrpSpPr/>
          <p:nvPr/>
        </p:nvGrpSpPr>
        <p:grpSpPr>
          <a:xfrm rot="0">
            <a:off x="9075969" y="2694518"/>
            <a:ext cx="1316017" cy="391529"/>
            <a:chOff x="0" y="0"/>
            <a:chExt cx="1754689" cy="522039"/>
          </a:xfrm>
        </p:grpSpPr>
        <p:sp>
          <p:nvSpPr>
            <p:cNvPr name="Freeform 22" id="22"/>
            <p:cNvSpPr/>
            <p:nvPr/>
          </p:nvSpPr>
          <p:spPr>
            <a:xfrm flipH="false" flipV="false" rot="0">
              <a:off x="0" y="0"/>
              <a:ext cx="1754689" cy="522039"/>
            </a:xfrm>
            <a:custGeom>
              <a:avLst/>
              <a:gdLst/>
              <a:ahLst/>
              <a:cxnLst/>
              <a:rect r="r" b="b" t="t" l="l"/>
              <a:pathLst>
                <a:path h="522039" w="1754689">
                  <a:moveTo>
                    <a:pt x="0" y="0"/>
                  </a:moveTo>
                  <a:lnTo>
                    <a:pt x="1754689" y="0"/>
                  </a:lnTo>
                  <a:lnTo>
                    <a:pt x="1754689" y="522039"/>
                  </a:lnTo>
                  <a:lnTo>
                    <a:pt x="0" y="522039"/>
                  </a:lnTo>
                  <a:close/>
                </a:path>
              </a:pathLst>
            </a:custGeom>
            <a:solidFill>
              <a:srgbClr val="000000">
                <a:alpha val="0"/>
              </a:srgbClr>
            </a:solidFill>
          </p:spPr>
        </p:sp>
        <p:sp>
          <p:nvSpPr>
            <p:cNvPr name="TextBox 23" id="23"/>
            <p:cNvSpPr txBox="true"/>
            <p:nvPr/>
          </p:nvSpPr>
          <p:spPr>
            <a:xfrm>
              <a:off x="0" y="-47625"/>
              <a:ext cx="1754689" cy="569664"/>
            </a:xfrm>
            <a:prstGeom prst="rect">
              <a:avLst/>
            </a:prstGeom>
          </p:spPr>
          <p:txBody>
            <a:bodyPr anchor="t" rtlCol="false" tIns="0" lIns="0" bIns="0" rIns="0"/>
            <a:lstStyle/>
            <a:p>
              <a:pPr algn="ctr">
                <a:lnSpc>
                  <a:spcPts val="3220"/>
                </a:lnSpc>
              </a:pPr>
              <a:r>
                <a:rPr lang="en-US" sz="2300">
                  <a:solidFill>
                    <a:srgbClr val="90113E"/>
                  </a:solidFill>
                  <a:latin typeface="Barlow"/>
                  <a:ea typeface="Barlow"/>
                  <a:cs typeface="Barlow"/>
                  <a:sym typeface="Barlow"/>
                </a:rPr>
                <a:t>Month 2</a:t>
              </a:r>
            </a:p>
          </p:txBody>
        </p:sp>
      </p:grpSp>
      <p:grpSp>
        <p:nvGrpSpPr>
          <p:cNvPr name="Group 24" id="24"/>
          <p:cNvGrpSpPr/>
          <p:nvPr/>
        </p:nvGrpSpPr>
        <p:grpSpPr>
          <a:xfrm rot="0">
            <a:off x="10645368" y="2473365"/>
            <a:ext cx="1972472" cy="894023"/>
            <a:chOff x="0" y="0"/>
            <a:chExt cx="2629963" cy="1192031"/>
          </a:xfrm>
        </p:grpSpPr>
        <p:sp>
          <p:nvSpPr>
            <p:cNvPr name="Freeform 25" id="25"/>
            <p:cNvSpPr/>
            <p:nvPr/>
          </p:nvSpPr>
          <p:spPr>
            <a:xfrm flipH="false" flipV="false" rot="0">
              <a:off x="0" y="0"/>
              <a:ext cx="2629916" cy="1192022"/>
            </a:xfrm>
            <a:custGeom>
              <a:avLst/>
              <a:gdLst/>
              <a:ahLst/>
              <a:cxnLst/>
              <a:rect r="r" b="b" t="t" l="l"/>
              <a:pathLst>
                <a:path h="1192022" w="2629916">
                  <a:moveTo>
                    <a:pt x="0" y="0"/>
                  </a:moveTo>
                  <a:lnTo>
                    <a:pt x="2629916" y="0"/>
                  </a:lnTo>
                  <a:lnTo>
                    <a:pt x="2629916" y="1192022"/>
                  </a:lnTo>
                  <a:lnTo>
                    <a:pt x="0" y="1192022"/>
                  </a:lnTo>
                  <a:close/>
                </a:path>
              </a:pathLst>
            </a:custGeom>
            <a:solidFill>
              <a:srgbClr val="FFFFFF"/>
            </a:solidFill>
          </p:spPr>
        </p:sp>
      </p:grpSp>
      <p:grpSp>
        <p:nvGrpSpPr>
          <p:cNvPr name="Group 26" id="26"/>
          <p:cNvGrpSpPr/>
          <p:nvPr/>
        </p:nvGrpSpPr>
        <p:grpSpPr>
          <a:xfrm rot="0">
            <a:off x="11029376" y="2694518"/>
            <a:ext cx="1316017" cy="391529"/>
            <a:chOff x="0" y="0"/>
            <a:chExt cx="1754689" cy="522039"/>
          </a:xfrm>
        </p:grpSpPr>
        <p:sp>
          <p:nvSpPr>
            <p:cNvPr name="Freeform 27" id="27"/>
            <p:cNvSpPr/>
            <p:nvPr/>
          </p:nvSpPr>
          <p:spPr>
            <a:xfrm flipH="false" flipV="false" rot="0">
              <a:off x="0" y="0"/>
              <a:ext cx="1754689" cy="522039"/>
            </a:xfrm>
            <a:custGeom>
              <a:avLst/>
              <a:gdLst/>
              <a:ahLst/>
              <a:cxnLst/>
              <a:rect r="r" b="b" t="t" l="l"/>
              <a:pathLst>
                <a:path h="522039" w="1754689">
                  <a:moveTo>
                    <a:pt x="0" y="0"/>
                  </a:moveTo>
                  <a:lnTo>
                    <a:pt x="1754689" y="0"/>
                  </a:lnTo>
                  <a:lnTo>
                    <a:pt x="1754689" y="522039"/>
                  </a:lnTo>
                  <a:lnTo>
                    <a:pt x="0" y="522039"/>
                  </a:lnTo>
                  <a:close/>
                </a:path>
              </a:pathLst>
            </a:custGeom>
            <a:solidFill>
              <a:srgbClr val="000000">
                <a:alpha val="0"/>
              </a:srgbClr>
            </a:solidFill>
          </p:spPr>
        </p:sp>
        <p:sp>
          <p:nvSpPr>
            <p:cNvPr name="TextBox 28" id="28"/>
            <p:cNvSpPr txBox="true"/>
            <p:nvPr/>
          </p:nvSpPr>
          <p:spPr>
            <a:xfrm>
              <a:off x="0" y="-47625"/>
              <a:ext cx="1754689" cy="569664"/>
            </a:xfrm>
            <a:prstGeom prst="rect">
              <a:avLst/>
            </a:prstGeom>
          </p:spPr>
          <p:txBody>
            <a:bodyPr anchor="t" rtlCol="false" tIns="0" lIns="0" bIns="0" rIns="0"/>
            <a:lstStyle/>
            <a:p>
              <a:pPr algn="ctr">
                <a:lnSpc>
                  <a:spcPts val="3220"/>
                </a:lnSpc>
              </a:pPr>
              <a:r>
                <a:rPr lang="en-US" sz="2300">
                  <a:solidFill>
                    <a:srgbClr val="90113E"/>
                  </a:solidFill>
                  <a:latin typeface="Barlow"/>
                  <a:ea typeface="Barlow"/>
                  <a:cs typeface="Barlow"/>
                  <a:sym typeface="Barlow"/>
                </a:rPr>
                <a:t>Month 3</a:t>
              </a:r>
            </a:p>
          </p:txBody>
        </p:sp>
      </p:grpSp>
      <p:grpSp>
        <p:nvGrpSpPr>
          <p:cNvPr name="Group 29" id="29"/>
          <p:cNvGrpSpPr/>
          <p:nvPr/>
        </p:nvGrpSpPr>
        <p:grpSpPr>
          <a:xfrm rot="0">
            <a:off x="12631287" y="2473365"/>
            <a:ext cx="1972472" cy="894023"/>
            <a:chOff x="0" y="0"/>
            <a:chExt cx="2629963" cy="1192031"/>
          </a:xfrm>
        </p:grpSpPr>
        <p:sp>
          <p:nvSpPr>
            <p:cNvPr name="Freeform 30" id="30"/>
            <p:cNvSpPr/>
            <p:nvPr/>
          </p:nvSpPr>
          <p:spPr>
            <a:xfrm flipH="false" flipV="false" rot="0">
              <a:off x="0" y="0"/>
              <a:ext cx="2629916" cy="1192022"/>
            </a:xfrm>
            <a:custGeom>
              <a:avLst/>
              <a:gdLst/>
              <a:ahLst/>
              <a:cxnLst/>
              <a:rect r="r" b="b" t="t" l="l"/>
              <a:pathLst>
                <a:path h="1192022" w="2629916">
                  <a:moveTo>
                    <a:pt x="0" y="0"/>
                  </a:moveTo>
                  <a:lnTo>
                    <a:pt x="2629916" y="0"/>
                  </a:lnTo>
                  <a:lnTo>
                    <a:pt x="2629916" y="1192022"/>
                  </a:lnTo>
                  <a:lnTo>
                    <a:pt x="0" y="1192022"/>
                  </a:lnTo>
                  <a:close/>
                </a:path>
              </a:pathLst>
            </a:custGeom>
            <a:solidFill>
              <a:srgbClr val="FFFFFF"/>
            </a:solidFill>
          </p:spPr>
        </p:sp>
      </p:grpSp>
      <p:grpSp>
        <p:nvGrpSpPr>
          <p:cNvPr name="Group 31" id="31"/>
          <p:cNvGrpSpPr/>
          <p:nvPr/>
        </p:nvGrpSpPr>
        <p:grpSpPr>
          <a:xfrm rot="0">
            <a:off x="14612169" y="2467083"/>
            <a:ext cx="1972472" cy="894023"/>
            <a:chOff x="0" y="0"/>
            <a:chExt cx="2629963" cy="1192031"/>
          </a:xfrm>
        </p:grpSpPr>
        <p:sp>
          <p:nvSpPr>
            <p:cNvPr name="Freeform 32" id="32"/>
            <p:cNvSpPr/>
            <p:nvPr/>
          </p:nvSpPr>
          <p:spPr>
            <a:xfrm flipH="false" flipV="false" rot="0">
              <a:off x="0" y="0"/>
              <a:ext cx="2629916" cy="1192022"/>
            </a:xfrm>
            <a:custGeom>
              <a:avLst/>
              <a:gdLst/>
              <a:ahLst/>
              <a:cxnLst/>
              <a:rect r="r" b="b" t="t" l="l"/>
              <a:pathLst>
                <a:path h="1192022" w="2629916">
                  <a:moveTo>
                    <a:pt x="0" y="0"/>
                  </a:moveTo>
                  <a:lnTo>
                    <a:pt x="2629916" y="0"/>
                  </a:lnTo>
                  <a:lnTo>
                    <a:pt x="2629916" y="1192022"/>
                  </a:lnTo>
                  <a:lnTo>
                    <a:pt x="0" y="1192022"/>
                  </a:lnTo>
                  <a:close/>
                </a:path>
              </a:pathLst>
            </a:custGeom>
            <a:solidFill>
              <a:srgbClr val="FFFFFF"/>
            </a:solidFill>
          </p:spPr>
        </p:sp>
      </p:grpSp>
      <p:grpSp>
        <p:nvGrpSpPr>
          <p:cNvPr name="Group 33" id="33"/>
          <p:cNvGrpSpPr/>
          <p:nvPr/>
        </p:nvGrpSpPr>
        <p:grpSpPr>
          <a:xfrm rot="0">
            <a:off x="12982784" y="2694518"/>
            <a:ext cx="1316017" cy="391529"/>
            <a:chOff x="0" y="0"/>
            <a:chExt cx="1754689" cy="522039"/>
          </a:xfrm>
        </p:grpSpPr>
        <p:sp>
          <p:nvSpPr>
            <p:cNvPr name="Freeform 34" id="34"/>
            <p:cNvSpPr/>
            <p:nvPr/>
          </p:nvSpPr>
          <p:spPr>
            <a:xfrm flipH="false" flipV="false" rot="0">
              <a:off x="0" y="0"/>
              <a:ext cx="1754689" cy="522039"/>
            </a:xfrm>
            <a:custGeom>
              <a:avLst/>
              <a:gdLst/>
              <a:ahLst/>
              <a:cxnLst/>
              <a:rect r="r" b="b" t="t" l="l"/>
              <a:pathLst>
                <a:path h="522039" w="1754689">
                  <a:moveTo>
                    <a:pt x="0" y="0"/>
                  </a:moveTo>
                  <a:lnTo>
                    <a:pt x="1754689" y="0"/>
                  </a:lnTo>
                  <a:lnTo>
                    <a:pt x="1754689" y="522039"/>
                  </a:lnTo>
                  <a:lnTo>
                    <a:pt x="0" y="522039"/>
                  </a:lnTo>
                  <a:close/>
                </a:path>
              </a:pathLst>
            </a:custGeom>
            <a:solidFill>
              <a:srgbClr val="000000">
                <a:alpha val="0"/>
              </a:srgbClr>
            </a:solidFill>
          </p:spPr>
        </p:sp>
        <p:sp>
          <p:nvSpPr>
            <p:cNvPr name="TextBox 35" id="35"/>
            <p:cNvSpPr txBox="true"/>
            <p:nvPr/>
          </p:nvSpPr>
          <p:spPr>
            <a:xfrm>
              <a:off x="0" y="-47625"/>
              <a:ext cx="1754689" cy="569664"/>
            </a:xfrm>
            <a:prstGeom prst="rect">
              <a:avLst/>
            </a:prstGeom>
          </p:spPr>
          <p:txBody>
            <a:bodyPr anchor="t" rtlCol="false" tIns="0" lIns="0" bIns="0" rIns="0"/>
            <a:lstStyle/>
            <a:p>
              <a:pPr algn="ctr">
                <a:lnSpc>
                  <a:spcPts val="3220"/>
                </a:lnSpc>
              </a:pPr>
              <a:r>
                <a:rPr lang="en-US" sz="2300">
                  <a:solidFill>
                    <a:srgbClr val="90113E"/>
                  </a:solidFill>
                  <a:latin typeface="Barlow"/>
                  <a:ea typeface="Barlow"/>
                  <a:cs typeface="Barlow"/>
                  <a:sym typeface="Barlow"/>
                </a:rPr>
                <a:t>Month 4</a:t>
              </a:r>
            </a:p>
          </p:txBody>
        </p:sp>
      </p:grpSp>
      <p:grpSp>
        <p:nvGrpSpPr>
          <p:cNvPr name="Group 36" id="36"/>
          <p:cNvGrpSpPr/>
          <p:nvPr/>
        </p:nvGrpSpPr>
        <p:grpSpPr>
          <a:xfrm rot="0">
            <a:off x="14936191" y="2694518"/>
            <a:ext cx="1316017" cy="391529"/>
            <a:chOff x="0" y="0"/>
            <a:chExt cx="1754689" cy="522039"/>
          </a:xfrm>
        </p:grpSpPr>
        <p:sp>
          <p:nvSpPr>
            <p:cNvPr name="Freeform 37" id="37"/>
            <p:cNvSpPr/>
            <p:nvPr/>
          </p:nvSpPr>
          <p:spPr>
            <a:xfrm flipH="false" flipV="false" rot="0">
              <a:off x="0" y="0"/>
              <a:ext cx="1754689" cy="522039"/>
            </a:xfrm>
            <a:custGeom>
              <a:avLst/>
              <a:gdLst/>
              <a:ahLst/>
              <a:cxnLst/>
              <a:rect r="r" b="b" t="t" l="l"/>
              <a:pathLst>
                <a:path h="522039" w="1754689">
                  <a:moveTo>
                    <a:pt x="0" y="0"/>
                  </a:moveTo>
                  <a:lnTo>
                    <a:pt x="1754689" y="0"/>
                  </a:lnTo>
                  <a:lnTo>
                    <a:pt x="1754689" y="522039"/>
                  </a:lnTo>
                  <a:lnTo>
                    <a:pt x="0" y="522039"/>
                  </a:lnTo>
                  <a:close/>
                </a:path>
              </a:pathLst>
            </a:custGeom>
            <a:solidFill>
              <a:srgbClr val="000000">
                <a:alpha val="0"/>
              </a:srgbClr>
            </a:solidFill>
          </p:spPr>
        </p:sp>
        <p:sp>
          <p:nvSpPr>
            <p:cNvPr name="TextBox 38" id="38"/>
            <p:cNvSpPr txBox="true"/>
            <p:nvPr/>
          </p:nvSpPr>
          <p:spPr>
            <a:xfrm>
              <a:off x="0" y="-47625"/>
              <a:ext cx="1754689" cy="569664"/>
            </a:xfrm>
            <a:prstGeom prst="rect">
              <a:avLst/>
            </a:prstGeom>
          </p:spPr>
          <p:txBody>
            <a:bodyPr anchor="t" rtlCol="false" tIns="0" lIns="0" bIns="0" rIns="0"/>
            <a:lstStyle/>
            <a:p>
              <a:pPr algn="ctr">
                <a:lnSpc>
                  <a:spcPts val="3220"/>
                </a:lnSpc>
              </a:pPr>
              <a:r>
                <a:rPr lang="en-US" sz="2300">
                  <a:solidFill>
                    <a:srgbClr val="90113E"/>
                  </a:solidFill>
                  <a:latin typeface="Barlow"/>
                  <a:ea typeface="Barlow"/>
                  <a:cs typeface="Barlow"/>
                  <a:sym typeface="Barlow"/>
                </a:rPr>
                <a:t>Month 5</a:t>
              </a:r>
            </a:p>
          </p:txBody>
        </p:sp>
      </p:grpSp>
      <p:grpSp>
        <p:nvGrpSpPr>
          <p:cNvPr name="Group 39" id="39"/>
          <p:cNvGrpSpPr/>
          <p:nvPr/>
        </p:nvGrpSpPr>
        <p:grpSpPr>
          <a:xfrm rot="0">
            <a:off x="2068802" y="2696086"/>
            <a:ext cx="4370690" cy="389255"/>
            <a:chOff x="0" y="0"/>
            <a:chExt cx="5827587" cy="519007"/>
          </a:xfrm>
        </p:grpSpPr>
        <p:sp>
          <p:nvSpPr>
            <p:cNvPr name="Freeform 40" id="40"/>
            <p:cNvSpPr/>
            <p:nvPr/>
          </p:nvSpPr>
          <p:spPr>
            <a:xfrm flipH="false" flipV="false" rot="0">
              <a:off x="0" y="0"/>
              <a:ext cx="5827587" cy="519007"/>
            </a:xfrm>
            <a:custGeom>
              <a:avLst/>
              <a:gdLst/>
              <a:ahLst/>
              <a:cxnLst/>
              <a:rect r="r" b="b" t="t" l="l"/>
              <a:pathLst>
                <a:path h="519007" w="5827587">
                  <a:moveTo>
                    <a:pt x="0" y="0"/>
                  </a:moveTo>
                  <a:lnTo>
                    <a:pt x="5827587" y="0"/>
                  </a:lnTo>
                  <a:lnTo>
                    <a:pt x="5827587" y="519007"/>
                  </a:lnTo>
                  <a:lnTo>
                    <a:pt x="0" y="519007"/>
                  </a:lnTo>
                  <a:close/>
                </a:path>
              </a:pathLst>
            </a:custGeom>
            <a:solidFill>
              <a:srgbClr val="000000">
                <a:alpha val="0"/>
              </a:srgbClr>
            </a:solidFill>
          </p:spPr>
        </p:sp>
        <p:sp>
          <p:nvSpPr>
            <p:cNvPr name="TextBox 41" id="41"/>
            <p:cNvSpPr txBox="true"/>
            <p:nvPr/>
          </p:nvSpPr>
          <p:spPr>
            <a:xfrm>
              <a:off x="0" y="-47625"/>
              <a:ext cx="5827587" cy="566632"/>
            </a:xfrm>
            <a:prstGeom prst="rect">
              <a:avLst/>
            </a:prstGeom>
          </p:spPr>
          <p:txBody>
            <a:bodyPr anchor="t" rtlCol="false" tIns="0" lIns="0" bIns="0" rIns="0"/>
            <a:lstStyle/>
            <a:p>
              <a:pPr algn="just">
                <a:lnSpc>
                  <a:spcPts val="3220"/>
                </a:lnSpc>
              </a:pPr>
              <a:r>
                <a:rPr lang="en-US" sz="2300">
                  <a:solidFill>
                    <a:srgbClr val="90113E"/>
                  </a:solidFill>
                  <a:latin typeface="Barlow"/>
                  <a:ea typeface="Barlow"/>
                  <a:cs typeface="Barlow"/>
                  <a:sym typeface="Barlow"/>
                </a:rPr>
                <a:t>Tasks</a:t>
              </a:r>
            </a:p>
          </p:txBody>
        </p:sp>
      </p:grpSp>
      <p:grpSp>
        <p:nvGrpSpPr>
          <p:cNvPr name="Group 42" id="42"/>
          <p:cNvGrpSpPr/>
          <p:nvPr/>
        </p:nvGrpSpPr>
        <p:grpSpPr>
          <a:xfrm rot="0">
            <a:off x="1997743" y="3419744"/>
            <a:ext cx="4441750" cy="456081"/>
            <a:chOff x="0" y="0"/>
            <a:chExt cx="5922333" cy="608108"/>
          </a:xfrm>
        </p:grpSpPr>
        <p:sp>
          <p:nvSpPr>
            <p:cNvPr name="Freeform 43" id="43"/>
            <p:cNvSpPr/>
            <p:nvPr/>
          </p:nvSpPr>
          <p:spPr>
            <a:xfrm flipH="false" flipV="false" rot="0">
              <a:off x="0" y="0"/>
              <a:ext cx="5922333" cy="608108"/>
            </a:xfrm>
            <a:custGeom>
              <a:avLst/>
              <a:gdLst/>
              <a:ahLst/>
              <a:cxnLst/>
              <a:rect r="r" b="b" t="t" l="l"/>
              <a:pathLst>
                <a:path h="608108" w="5922333">
                  <a:moveTo>
                    <a:pt x="0" y="0"/>
                  </a:moveTo>
                  <a:lnTo>
                    <a:pt x="5922333" y="0"/>
                  </a:lnTo>
                  <a:lnTo>
                    <a:pt x="5922333" y="608108"/>
                  </a:lnTo>
                  <a:lnTo>
                    <a:pt x="0" y="608108"/>
                  </a:lnTo>
                  <a:close/>
                </a:path>
              </a:pathLst>
            </a:custGeom>
            <a:solidFill>
              <a:srgbClr val="000000">
                <a:alpha val="0"/>
              </a:srgbClr>
            </a:solidFill>
          </p:spPr>
        </p:sp>
        <p:sp>
          <p:nvSpPr>
            <p:cNvPr name="TextBox 44" id="44"/>
            <p:cNvSpPr txBox="true"/>
            <p:nvPr/>
          </p:nvSpPr>
          <p:spPr>
            <a:xfrm>
              <a:off x="0" y="-47625"/>
              <a:ext cx="5922333" cy="655733"/>
            </a:xfrm>
            <a:prstGeom prst="rect">
              <a:avLst/>
            </a:prstGeom>
          </p:spPr>
          <p:txBody>
            <a:bodyPr anchor="t" rtlCol="false" tIns="0" lIns="0" bIns="0" rIns="0"/>
            <a:lstStyle/>
            <a:p>
              <a:pPr algn="just">
                <a:lnSpc>
                  <a:spcPts val="3220"/>
                </a:lnSpc>
              </a:pPr>
              <a:r>
                <a:rPr lang="en-US" sz="2300">
                  <a:solidFill>
                    <a:srgbClr val="90113E"/>
                  </a:solidFill>
                  <a:latin typeface="Barlow"/>
                  <a:ea typeface="Barlow"/>
                  <a:cs typeface="Barlow"/>
                  <a:sym typeface="Barlow"/>
                </a:rPr>
                <a:t>Build MVP</a:t>
              </a:r>
            </a:p>
          </p:txBody>
        </p:sp>
      </p:grpSp>
      <p:grpSp>
        <p:nvGrpSpPr>
          <p:cNvPr name="Group 45" id="45"/>
          <p:cNvGrpSpPr/>
          <p:nvPr/>
        </p:nvGrpSpPr>
        <p:grpSpPr>
          <a:xfrm rot="0">
            <a:off x="1997743" y="4022985"/>
            <a:ext cx="4441750" cy="488941"/>
            <a:chOff x="0" y="0"/>
            <a:chExt cx="5922333" cy="651921"/>
          </a:xfrm>
        </p:grpSpPr>
        <p:sp>
          <p:nvSpPr>
            <p:cNvPr name="Freeform 46" id="46"/>
            <p:cNvSpPr/>
            <p:nvPr/>
          </p:nvSpPr>
          <p:spPr>
            <a:xfrm flipH="false" flipV="false" rot="0">
              <a:off x="0" y="0"/>
              <a:ext cx="5922333" cy="651921"/>
            </a:xfrm>
            <a:custGeom>
              <a:avLst/>
              <a:gdLst/>
              <a:ahLst/>
              <a:cxnLst/>
              <a:rect r="r" b="b" t="t" l="l"/>
              <a:pathLst>
                <a:path h="651921" w="5922333">
                  <a:moveTo>
                    <a:pt x="0" y="0"/>
                  </a:moveTo>
                  <a:lnTo>
                    <a:pt x="5922333" y="0"/>
                  </a:lnTo>
                  <a:lnTo>
                    <a:pt x="5922333" y="651921"/>
                  </a:lnTo>
                  <a:lnTo>
                    <a:pt x="0" y="651921"/>
                  </a:lnTo>
                  <a:close/>
                </a:path>
              </a:pathLst>
            </a:custGeom>
            <a:solidFill>
              <a:srgbClr val="000000">
                <a:alpha val="0"/>
              </a:srgbClr>
            </a:solidFill>
          </p:spPr>
        </p:sp>
        <p:sp>
          <p:nvSpPr>
            <p:cNvPr name="TextBox 47" id="47"/>
            <p:cNvSpPr txBox="true"/>
            <p:nvPr/>
          </p:nvSpPr>
          <p:spPr>
            <a:xfrm>
              <a:off x="0" y="-47625"/>
              <a:ext cx="5922333" cy="699546"/>
            </a:xfrm>
            <a:prstGeom prst="rect">
              <a:avLst/>
            </a:prstGeom>
          </p:spPr>
          <p:txBody>
            <a:bodyPr anchor="t" rtlCol="false" tIns="0" lIns="0" bIns="0" rIns="0"/>
            <a:lstStyle/>
            <a:p>
              <a:pPr algn="just">
                <a:lnSpc>
                  <a:spcPts val="3220"/>
                </a:lnSpc>
              </a:pPr>
              <a:r>
                <a:rPr lang="en-US" sz="2300">
                  <a:solidFill>
                    <a:srgbClr val="90113E"/>
                  </a:solidFill>
                  <a:latin typeface="Barlow"/>
                  <a:ea typeface="Barlow"/>
                  <a:cs typeface="Barlow"/>
                  <a:sym typeface="Barlow"/>
                </a:rPr>
                <a:t>Sign Partners</a:t>
              </a:r>
            </a:p>
          </p:txBody>
        </p:sp>
      </p:grpSp>
      <p:grpSp>
        <p:nvGrpSpPr>
          <p:cNvPr name="Group 48" id="48"/>
          <p:cNvGrpSpPr/>
          <p:nvPr/>
        </p:nvGrpSpPr>
        <p:grpSpPr>
          <a:xfrm rot="0">
            <a:off x="1997743" y="4626226"/>
            <a:ext cx="4441750" cy="831238"/>
            <a:chOff x="0" y="0"/>
            <a:chExt cx="5922333" cy="1108317"/>
          </a:xfrm>
        </p:grpSpPr>
        <p:sp>
          <p:nvSpPr>
            <p:cNvPr name="Freeform 49" id="49"/>
            <p:cNvSpPr/>
            <p:nvPr/>
          </p:nvSpPr>
          <p:spPr>
            <a:xfrm flipH="false" flipV="false" rot="0">
              <a:off x="0" y="0"/>
              <a:ext cx="5922333" cy="1108317"/>
            </a:xfrm>
            <a:custGeom>
              <a:avLst/>
              <a:gdLst/>
              <a:ahLst/>
              <a:cxnLst/>
              <a:rect r="r" b="b" t="t" l="l"/>
              <a:pathLst>
                <a:path h="1108317" w="5922333">
                  <a:moveTo>
                    <a:pt x="0" y="0"/>
                  </a:moveTo>
                  <a:lnTo>
                    <a:pt x="5922333" y="0"/>
                  </a:lnTo>
                  <a:lnTo>
                    <a:pt x="5922333" y="1108317"/>
                  </a:lnTo>
                  <a:lnTo>
                    <a:pt x="0" y="1108317"/>
                  </a:lnTo>
                  <a:close/>
                </a:path>
              </a:pathLst>
            </a:custGeom>
            <a:solidFill>
              <a:srgbClr val="000000">
                <a:alpha val="0"/>
              </a:srgbClr>
            </a:solidFill>
          </p:spPr>
        </p:sp>
        <p:sp>
          <p:nvSpPr>
            <p:cNvPr name="TextBox 50" id="50"/>
            <p:cNvSpPr txBox="true"/>
            <p:nvPr/>
          </p:nvSpPr>
          <p:spPr>
            <a:xfrm>
              <a:off x="0" y="-47625"/>
              <a:ext cx="5922333" cy="1155942"/>
            </a:xfrm>
            <a:prstGeom prst="rect">
              <a:avLst/>
            </a:prstGeom>
          </p:spPr>
          <p:txBody>
            <a:bodyPr anchor="t" rtlCol="false" tIns="0" lIns="0" bIns="0" rIns="0"/>
            <a:lstStyle/>
            <a:p>
              <a:pPr algn="just">
                <a:lnSpc>
                  <a:spcPts val="3220"/>
                </a:lnSpc>
              </a:pPr>
              <a:r>
                <a:rPr lang="en-US" sz="2300">
                  <a:solidFill>
                    <a:srgbClr val="90113E"/>
                  </a:solidFill>
                  <a:latin typeface="Barlow"/>
                  <a:ea typeface="Barlow"/>
                  <a:cs typeface="Barlow"/>
                  <a:sym typeface="Barlow"/>
                </a:rPr>
                <a:t>Launch Pilot</a:t>
              </a:r>
            </a:p>
            <a:p>
              <a:pPr algn="just">
                <a:lnSpc>
                  <a:spcPts val="3220"/>
                </a:lnSpc>
              </a:pPr>
            </a:p>
          </p:txBody>
        </p:sp>
      </p:grpSp>
      <p:grpSp>
        <p:nvGrpSpPr>
          <p:cNvPr name="Group 51" id="51"/>
          <p:cNvGrpSpPr/>
          <p:nvPr/>
        </p:nvGrpSpPr>
        <p:grpSpPr>
          <a:xfrm rot="0">
            <a:off x="1997743" y="5229466"/>
            <a:ext cx="4441750" cy="420789"/>
            <a:chOff x="0" y="0"/>
            <a:chExt cx="5922333" cy="561052"/>
          </a:xfrm>
        </p:grpSpPr>
        <p:sp>
          <p:nvSpPr>
            <p:cNvPr name="Freeform 52" id="52"/>
            <p:cNvSpPr/>
            <p:nvPr/>
          </p:nvSpPr>
          <p:spPr>
            <a:xfrm flipH="false" flipV="false" rot="0">
              <a:off x="0" y="0"/>
              <a:ext cx="5922333" cy="561052"/>
            </a:xfrm>
            <a:custGeom>
              <a:avLst/>
              <a:gdLst/>
              <a:ahLst/>
              <a:cxnLst/>
              <a:rect r="r" b="b" t="t" l="l"/>
              <a:pathLst>
                <a:path h="561052" w="5922333">
                  <a:moveTo>
                    <a:pt x="0" y="0"/>
                  </a:moveTo>
                  <a:lnTo>
                    <a:pt x="5922333" y="0"/>
                  </a:lnTo>
                  <a:lnTo>
                    <a:pt x="5922333" y="561052"/>
                  </a:lnTo>
                  <a:lnTo>
                    <a:pt x="0" y="561052"/>
                  </a:lnTo>
                  <a:close/>
                </a:path>
              </a:pathLst>
            </a:custGeom>
            <a:solidFill>
              <a:srgbClr val="000000">
                <a:alpha val="0"/>
              </a:srgbClr>
            </a:solidFill>
          </p:spPr>
        </p:sp>
        <p:sp>
          <p:nvSpPr>
            <p:cNvPr name="TextBox 53" id="53"/>
            <p:cNvSpPr txBox="true"/>
            <p:nvPr/>
          </p:nvSpPr>
          <p:spPr>
            <a:xfrm>
              <a:off x="0" y="-47625"/>
              <a:ext cx="5922333" cy="608677"/>
            </a:xfrm>
            <a:prstGeom prst="rect">
              <a:avLst/>
            </a:prstGeom>
          </p:spPr>
          <p:txBody>
            <a:bodyPr anchor="t" rtlCol="false" tIns="0" lIns="0" bIns="0" rIns="0"/>
            <a:lstStyle/>
            <a:p>
              <a:pPr algn="just">
                <a:lnSpc>
                  <a:spcPts val="3220"/>
                </a:lnSpc>
              </a:pPr>
              <a:r>
                <a:rPr lang="en-US" sz="2300">
                  <a:solidFill>
                    <a:srgbClr val="90113E"/>
                  </a:solidFill>
                  <a:latin typeface="Barlow"/>
                  <a:ea typeface="Barlow"/>
                  <a:cs typeface="Barlow"/>
                  <a:sym typeface="Barlow"/>
                </a:rPr>
                <a:t>Train Farmers</a:t>
              </a:r>
            </a:p>
          </p:txBody>
        </p:sp>
      </p:grpSp>
      <p:grpSp>
        <p:nvGrpSpPr>
          <p:cNvPr name="Group 54" id="54"/>
          <p:cNvGrpSpPr/>
          <p:nvPr/>
        </p:nvGrpSpPr>
        <p:grpSpPr>
          <a:xfrm rot="0">
            <a:off x="1997743" y="5832707"/>
            <a:ext cx="4441750" cy="420789"/>
            <a:chOff x="0" y="0"/>
            <a:chExt cx="5922333" cy="561052"/>
          </a:xfrm>
        </p:grpSpPr>
        <p:sp>
          <p:nvSpPr>
            <p:cNvPr name="Freeform 55" id="55"/>
            <p:cNvSpPr/>
            <p:nvPr/>
          </p:nvSpPr>
          <p:spPr>
            <a:xfrm flipH="false" flipV="false" rot="0">
              <a:off x="0" y="0"/>
              <a:ext cx="5922333" cy="561052"/>
            </a:xfrm>
            <a:custGeom>
              <a:avLst/>
              <a:gdLst/>
              <a:ahLst/>
              <a:cxnLst/>
              <a:rect r="r" b="b" t="t" l="l"/>
              <a:pathLst>
                <a:path h="561052" w="5922333">
                  <a:moveTo>
                    <a:pt x="0" y="0"/>
                  </a:moveTo>
                  <a:lnTo>
                    <a:pt x="5922333" y="0"/>
                  </a:lnTo>
                  <a:lnTo>
                    <a:pt x="5922333" y="561052"/>
                  </a:lnTo>
                  <a:lnTo>
                    <a:pt x="0" y="561052"/>
                  </a:lnTo>
                  <a:close/>
                </a:path>
              </a:pathLst>
            </a:custGeom>
            <a:solidFill>
              <a:srgbClr val="000000">
                <a:alpha val="0"/>
              </a:srgbClr>
            </a:solidFill>
          </p:spPr>
        </p:sp>
        <p:sp>
          <p:nvSpPr>
            <p:cNvPr name="TextBox 56" id="56"/>
            <p:cNvSpPr txBox="true"/>
            <p:nvPr/>
          </p:nvSpPr>
          <p:spPr>
            <a:xfrm>
              <a:off x="0" y="-47625"/>
              <a:ext cx="5922333" cy="608677"/>
            </a:xfrm>
            <a:prstGeom prst="rect">
              <a:avLst/>
            </a:prstGeom>
          </p:spPr>
          <p:txBody>
            <a:bodyPr anchor="t" rtlCol="false" tIns="0" lIns="0" bIns="0" rIns="0"/>
            <a:lstStyle/>
            <a:p>
              <a:pPr algn="just">
                <a:lnSpc>
                  <a:spcPts val="3220"/>
                </a:lnSpc>
              </a:pPr>
              <a:r>
                <a:rPr lang="en-US" sz="2300">
                  <a:solidFill>
                    <a:srgbClr val="90113E"/>
                  </a:solidFill>
                  <a:latin typeface="Barlow"/>
                  <a:ea typeface="Barlow"/>
                  <a:cs typeface="Barlow"/>
                  <a:sym typeface="Barlow"/>
                </a:rPr>
                <a:t>Collect Feedback</a:t>
              </a:r>
            </a:p>
          </p:txBody>
        </p:sp>
      </p:grpSp>
      <p:grpSp>
        <p:nvGrpSpPr>
          <p:cNvPr name="Group 57" id="57"/>
          <p:cNvGrpSpPr/>
          <p:nvPr/>
        </p:nvGrpSpPr>
        <p:grpSpPr>
          <a:xfrm rot="0">
            <a:off x="1997743" y="6435948"/>
            <a:ext cx="4441750" cy="420789"/>
            <a:chOff x="0" y="0"/>
            <a:chExt cx="5922333" cy="561052"/>
          </a:xfrm>
        </p:grpSpPr>
        <p:sp>
          <p:nvSpPr>
            <p:cNvPr name="Freeform 58" id="58"/>
            <p:cNvSpPr/>
            <p:nvPr/>
          </p:nvSpPr>
          <p:spPr>
            <a:xfrm flipH="false" flipV="false" rot="0">
              <a:off x="0" y="0"/>
              <a:ext cx="5922333" cy="561052"/>
            </a:xfrm>
            <a:custGeom>
              <a:avLst/>
              <a:gdLst/>
              <a:ahLst/>
              <a:cxnLst/>
              <a:rect r="r" b="b" t="t" l="l"/>
              <a:pathLst>
                <a:path h="561052" w="5922333">
                  <a:moveTo>
                    <a:pt x="0" y="0"/>
                  </a:moveTo>
                  <a:lnTo>
                    <a:pt x="5922333" y="0"/>
                  </a:lnTo>
                  <a:lnTo>
                    <a:pt x="5922333" y="561052"/>
                  </a:lnTo>
                  <a:lnTo>
                    <a:pt x="0" y="561052"/>
                  </a:lnTo>
                  <a:close/>
                </a:path>
              </a:pathLst>
            </a:custGeom>
            <a:solidFill>
              <a:srgbClr val="000000">
                <a:alpha val="0"/>
              </a:srgbClr>
            </a:solidFill>
          </p:spPr>
        </p:sp>
        <p:sp>
          <p:nvSpPr>
            <p:cNvPr name="TextBox 59" id="59"/>
            <p:cNvSpPr txBox="true"/>
            <p:nvPr/>
          </p:nvSpPr>
          <p:spPr>
            <a:xfrm>
              <a:off x="0" y="-47625"/>
              <a:ext cx="5922333" cy="608677"/>
            </a:xfrm>
            <a:prstGeom prst="rect">
              <a:avLst/>
            </a:prstGeom>
          </p:spPr>
          <p:txBody>
            <a:bodyPr anchor="t" rtlCol="false" tIns="0" lIns="0" bIns="0" rIns="0"/>
            <a:lstStyle/>
            <a:p>
              <a:pPr algn="just">
                <a:lnSpc>
                  <a:spcPts val="3220"/>
                </a:lnSpc>
              </a:pPr>
              <a:r>
                <a:rPr lang="en-US" sz="2300">
                  <a:solidFill>
                    <a:srgbClr val="90113E"/>
                  </a:solidFill>
                  <a:latin typeface="Barlow"/>
                  <a:ea typeface="Barlow"/>
                  <a:cs typeface="Barlow"/>
                  <a:sym typeface="Barlow"/>
                </a:rPr>
                <a:t>Improve Platform</a:t>
              </a:r>
            </a:p>
          </p:txBody>
        </p:sp>
      </p:grpSp>
      <p:grpSp>
        <p:nvGrpSpPr>
          <p:cNvPr name="Group 60" id="60"/>
          <p:cNvGrpSpPr/>
          <p:nvPr/>
        </p:nvGrpSpPr>
        <p:grpSpPr>
          <a:xfrm rot="0">
            <a:off x="1997743" y="7039189"/>
            <a:ext cx="4441750" cy="420789"/>
            <a:chOff x="0" y="0"/>
            <a:chExt cx="5922333" cy="561052"/>
          </a:xfrm>
        </p:grpSpPr>
        <p:sp>
          <p:nvSpPr>
            <p:cNvPr name="Freeform 61" id="61"/>
            <p:cNvSpPr/>
            <p:nvPr/>
          </p:nvSpPr>
          <p:spPr>
            <a:xfrm flipH="false" flipV="false" rot="0">
              <a:off x="0" y="0"/>
              <a:ext cx="5922333" cy="561052"/>
            </a:xfrm>
            <a:custGeom>
              <a:avLst/>
              <a:gdLst/>
              <a:ahLst/>
              <a:cxnLst/>
              <a:rect r="r" b="b" t="t" l="l"/>
              <a:pathLst>
                <a:path h="561052" w="5922333">
                  <a:moveTo>
                    <a:pt x="0" y="0"/>
                  </a:moveTo>
                  <a:lnTo>
                    <a:pt x="5922333" y="0"/>
                  </a:lnTo>
                  <a:lnTo>
                    <a:pt x="5922333" y="561052"/>
                  </a:lnTo>
                  <a:lnTo>
                    <a:pt x="0" y="561052"/>
                  </a:lnTo>
                  <a:close/>
                </a:path>
              </a:pathLst>
            </a:custGeom>
            <a:solidFill>
              <a:srgbClr val="000000">
                <a:alpha val="0"/>
              </a:srgbClr>
            </a:solidFill>
          </p:spPr>
        </p:sp>
        <p:sp>
          <p:nvSpPr>
            <p:cNvPr name="TextBox 62" id="62"/>
            <p:cNvSpPr txBox="true"/>
            <p:nvPr/>
          </p:nvSpPr>
          <p:spPr>
            <a:xfrm>
              <a:off x="0" y="-47625"/>
              <a:ext cx="5922333" cy="608677"/>
            </a:xfrm>
            <a:prstGeom prst="rect">
              <a:avLst/>
            </a:prstGeom>
          </p:spPr>
          <p:txBody>
            <a:bodyPr anchor="t" rtlCol="false" tIns="0" lIns="0" bIns="0" rIns="0"/>
            <a:lstStyle/>
            <a:p>
              <a:pPr algn="just">
                <a:lnSpc>
                  <a:spcPts val="3220"/>
                </a:lnSpc>
              </a:pPr>
              <a:r>
                <a:rPr lang="en-US" sz="2300">
                  <a:solidFill>
                    <a:srgbClr val="90113E"/>
                  </a:solidFill>
                  <a:latin typeface="Barlow"/>
                  <a:ea typeface="Barlow"/>
                  <a:cs typeface="Barlow"/>
                  <a:sym typeface="Barlow"/>
                </a:rPr>
                <a:t>Expand Reach and sign buyers</a:t>
              </a:r>
            </a:p>
          </p:txBody>
        </p:sp>
      </p:grpSp>
      <p:grpSp>
        <p:nvGrpSpPr>
          <p:cNvPr name="Group 63" id="63"/>
          <p:cNvGrpSpPr/>
          <p:nvPr/>
        </p:nvGrpSpPr>
        <p:grpSpPr>
          <a:xfrm rot="0">
            <a:off x="1997743" y="7642429"/>
            <a:ext cx="4441750" cy="1174696"/>
            <a:chOff x="0" y="0"/>
            <a:chExt cx="5922333" cy="1566261"/>
          </a:xfrm>
        </p:grpSpPr>
        <p:sp>
          <p:nvSpPr>
            <p:cNvPr name="Freeform 64" id="64"/>
            <p:cNvSpPr/>
            <p:nvPr/>
          </p:nvSpPr>
          <p:spPr>
            <a:xfrm flipH="false" flipV="false" rot="0">
              <a:off x="0" y="0"/>
              <a:ext cx="5922333" cy="1566261"/>
            </a:xfrm>
            <a:custGeom>
              <a:avLst/>
              <a:gdLst/>
              <a:ahLst/>
              <a:cxnLst/>
              <a:rect r="r" b="b" t="t" l="l"/>
              <a:pathLst>
                <a:path h="1566261" w="5922333">
                  <a:moveTo>
                    <a:pt x="0" y="0"/>
                  </a:moveTo>
                  <a:lnTo>
                    <a:pt x="5922333" y="0"/>
                  </a:lnTo>
                  <a:lnTo>
                    <a:pt x="5922333" y="1566261"/>
                  </a:lnTo>
                  <a:lnTo>
                    <a:pt x="0" y="1566261"/>
                  </a:lnTo>
                  <a:close/>
                </a:path>
              </a:pathLst>
            </a:custGeom>
            <a:solidFill>
              <a:srgbClr val="000000">
                <a:alpha val="0"/>
              </a:srgbClr>
            </a:solidFill>
          </p:spPr>
        </p:sp>
        <p:sp>
          <p:nvSpPr>
            <p:cNvPr name="TextBox 65" id="65"/>
            <p:cNvSpPr txBox="true"/>
            <p:nvPr/>
          </p:nvSpPr>
          <p:spPr>
            <a:xfrm>
              <a:off x="0" y="-47625"/>
              <a:ext cx="5922333" cy="1613886"/>
            </a:xfrm>
            <a:prstGeom prst="rect">
              <a:avLst/>
            </a:prstGeom>
          </p:spPr>
          <p:txBody>
            <a:bodyPr anchor="t" rtlCol="false" tIns="0" lIns="0" bIns="0" rIns="0"/>
            <a:lstStyle/>
            <a:p>
              <a:pPr algn="just">
                <a:lnSpc>
                  <a:spcPts val="3220"/>
                </a:lnSpc>
              </a:pPr>
              <a:r>
                <a:rPr lang="en-US" sz="2300">
                  <a:solidFill>
                    <a:srgbClr val="90113E"/>
                  </a:solidFill>
                  <a:latin typeface="Barlow"/>
                  <a:ea typeface="Barlow"/>
                  <a:cs typeface="Barlow"/>
                  <a:sym typeface="Barlow"/>
                </a:rPr>
                <a:t>Scale Operations and demo pitch</a:t>
              </a:r>
            </a:p>
          </p:txBody>
        </p:sp>
      </p:grpSp>
      <p:grpSp>
        <p:nvGrpSpPr>
          <p:cNvPr name="Group 66" id="66"/>
          <p:cNvGrpSpPr/>
          <p:nvPr/>
        </p:nvGrpSpPr>
        <p:grpSpPr>
          <a:xfrm rot="0">
            <a:off x="6430296" y="3181414"/>
            <a:ext cx="2458595" cy="485775"/>
            <a:chOff x="0" y="0"/>
            <a:chExt cx="3278127" cy="647700"/>
          </a:xfrm>
        </p:grpSpPr>
        <p:sp>
          <p:nvSpPr>
            <p:cNvPr name="Freeform 67" id="67"/>
            <p:cNvSpPr/>
            <p:nvPr/>
          </p:nvSpPr>
          <p:spPr>
            <a:xfrm flipH="false" flipV="false" rot="0">
              <a:off x="323850" y="0"/>
              <a:ext cx="2630424" cy="647700"/>
            </a:xfrm>
            <a:custGeom>
              <a:avLst/>
              <a:gdLst/>
              <a:ahLst/>
              <a:cxnLst/>
              <a:rect r="r" b="b" t="t" l="l"/>
              <a:pathLst>
                <a:path h="647700" w="2630424">
                  <a:moveTo>
                    <a:pt x="0" y="0"/>
                  </a:moveTo>
                  <a:lnTo>
                    <a:pt x="2630424" y="0"/>
                  </a:lnTo>
                  <a:lnTo>
                    <a:pt x="2630424" y="647700"/>
                  </a:lnTo>
                  <a:lnTo>
                    <a:pt x="0" y="647700"/>
                  </a:lnTo>
                  <a:close/>
                </a:path>
              </a:pathLst>
            </a:custGeom>
            <a:solidFill>
              <a:srgbClr val="90113E"/>
            </a:solidFill>
          </p:spPr>
        </p:sp>
      </p:grpSp>
      <p:grpSp>
        <p:nvGrpSpPr>
          <p:cNvPr name="Group 68" id="68"/>
          <p:cNvGrpSpPr/>
          <p:nvPr/>
        </p:nvGrpSpPr>
        <p:grpSpPr>
          <a:xfrm rot="0">
            <a:off x="7416707" y="3784656"/>
            <a:ext cx="3458103" cy="485775"/>
            <a:chOff x="0" y="0"/>
            <a:chExt cx="4610804" cy="647700"/>
          </a:xfrm>
        </p:grpSpPr>
        <p:sp>
          <p:nvSpPr>
            <p:cNvPr name="Freeform 69" id="69"/>
            <p:cNvSpPr/>
            <p:nvPr/>
          </p:nvSpPr>
          <p:spPr>
            <a:xfrm flipH="false" flipV="false" rot="0">
              <a:off x="323850" y="0"/>
              <a:ext cx="3963162" cy="647700"/>
            </a:xfrm>
            <a:custGeom>
              <a:avLst/>
              <a:gdLst/>
              <a:ahLst/>
              <a:cxnLst/>
              <a:rect r="r" b="b" t="t" l="l"/>
              <a:pathLst>
                <a:path h="647700" w="3963162">
                  <a:moveTo>
                    <a:pt x="0" y="0"/>
                  </a:moveTo>
                  <a:lnTo>
                    <a:pt x="3963162" y="0"/>
                  </a:lnTo>
                  <a:lnTo>
                    <a:pt x="3963162" y="647700"/>
                  </a:lnTo>
                  <a:lnTo>
                    <a:pt x="0" y="647700"/>
                  </a:lnTo>
                  <a:close/>
                </a:path>
              </a:pathLst>
            </a:custGeom>
            <a:solidFill>
              <a:srgbClr val="0BB6BC"/>
            </a:solidFill>
          </p:spPr>
        </p:sp>
      </p:grpSp>
      <p:grpSp>
        <p:nvGrpSpPr>
          <p:cNvPr name="Group 70" id="70"/>
          <p:cNvGrpSpPr/>
          <p:nvPr/>
        </p:nvGrpSpPr>
        <p:grpSpPr>
          <a:xfrm rot="0">
            <a:off x="7416707" y="4360420"/>
            <a:ext cx="2498760" cy="485775"/>
            <a:chOff x="0" y="0"/>
            <a:chExt cx="3331680" cy="647700"/>
          </a:xfrm>
        </p:grpSpPr>
        <p:sp>
          <p:nvSpPr>
            <p:cNvPr name="Freeform 71" id="71"/>
            <p:cNvSpPr/>
            <p:nvPr/>
          </p:nvSpPr>
          <p:spPr>
            <a:xfrm flipH="false" flipV="false" rot="0">
              <a:off x="323850" y="0"/>
              <a:ext cx="2684018" cy="647700"/>
            </a:xfrm>
            <a:custGeom>
              <a:avLst/>
              <a:gdLst/>
              <a:ahLst/>
              <a:cxnLst/>
              <a:rect r="r" b="b" t="t" l="l"/>
              <a:pathLst>
                <a:path h="647700" w="2684018">
                  <a:moveTo>
                    <a:pt x="0" y="0"/>
                  </a:moveTo>
                  <a:lnTo>
                    <a:pt x="2684018" y="0"/>
                  </a:lnTo>
                  <a:lnTo>
                    <a:pt x="2684018" y="647700"/>
                  </a:lnTo>
                  <a:lnTo>
                    <a:pt x="0" y="647700"/>
                  </a:lnTo>
                  <a:close/>
                </a:path>
              </a:pathLst>
            </a:custGeom>
            <a:solidFill>
              <a:srgbClr val="FF66C4"/>
            </a:solidFill>
          </p:spPr>
        </p:sp>
      </p:grpSp>
      <p:grpSp>
        <p:nvGrpSpPr>
          <p:cNvPr name="Group 72" id="72"/>
          <p:cNvGrpSpPr/>
          <p:nvPr/>
        </p:nvGrpSpPr>
        <p:grpSpPr>
          <a:xfrm rot="0">
            <a:off x="12388400" y="6159436"/>
            <a:ext cx="3448688" cy="485775"/>
            <a:chOff x="0" y="0"/>
            <a:chExt cx="4598251" cy="647700"/>
          </a:xfrm>
        </p:grpSpPr>
        <p:sp>
          <p:nvSpPr>
            <p:cNvPr name="Freeform 73" id="73"/>
            <p:cNvSpPr/>
            <p:nvPr/>
          </p:nvSpPr>
          <p:spPr>
            <a:xfrm flipH="false" flipV="false" rot="0">
              <a:off x="323850" y="0"/>
              <a:ext cx="3950589" cy="647700"/>
            </a:xfrm>
            <a:custGeom>
              <a:avLst/>
              <a:gdLst/>
              <a:ahLst/>
              <a:cxnLst/>
              <a:rect r="r" b="b" t="t" l="l"/>
              <a:pathLst>
                <a:path h="647700" w="3950589">
                  <a:moveTo>
                    <a:pt x="0" y="0"/>
                  </a:moveTo>
                  <a:lnTo>
                    <a:pt x="3950589" y="0"/>
                  </a:lnTo>
                  <a:lnTo>
                    <a:pt x="3950589" y="647700"/>
                  </a:lnTo>
                  <a:lnTo>
                    <a:pt x="0" y="647700"/>
                  </a:lnTo>
                  <a:close/>
                </a:path>
              </a:pathLst>
            </a:custGeom>
            <a:solidFill>
              <a:srgbClr val="083169"/>
            </a:solidFill>
          </p:spPr>
        </p:sp>
      </p:grpSp>
      <p:grpSp>
        <p:nvGrpSpPr>
          <p:cNvPr name="Group 74" id="74"/>
          <p:cNvGrpSpPr/>
          <p:nvPr/>
        </p:nvGrpSpPr>
        <p:grpSpPr>
          <a:xfrm rot="0">
            <a:off x="14360871" y="6753758"/>
            <a:ext cx="2466657" cy="485775"/>
            <a:chOff x="0" y="0"/>
            <a:chExt cx="3288876" cy="647700"/>
          </a:xfrm>
        </p:grpSpPr>
        <p:sp>
          <p:nvSpPr>
            <p:cNvPr name="Freeform 75" id="75"/>
            <p:cNvSpPr/>
            <p:nvPr/>
          </p:nvSpPr>
          <p:spPr>
            <a:xfrm flipH="false" flipV="false" rot="0">
              <a:off x="323850" y="0"/>
              <a:ext cx="2641219" cy="647700"/>
            </a:xfrm>
            <a:custGeom>
              <a:avLst/>
              <a:gdLst/>
              <a:ahLst/>
              <a:cxnLst/>
              <a:rect r="r" b="b" t="t" l="l"/>
              <a:pathLst>
                <a:path h="647700" w="2641219">
                  <a:moveTo>
                    <a:pt x="0" y="0"/>
                  </a:moveTo>
                  <a:lnTo>
                    <a:pt x="2641219" y="0"/>
                  </a:lnTo>
                  <a:lnTo>
                    <a:pt x="2641219" y="647700"/>
                  </a:lnTo>
                  <a:lnTo>
                    <a:pt x="0" y="647700"/>
                  </a:lnTo>
                  <a:close/>
                </a:path>
              </a:pathLst>
            </a:custGeom>
            <a:solidFill>
              <a:srgbClr val="CF6E38"/>
            </a:solidFill>
          </p:spPr>
        </p:sp>
      </p:grpSp>
      <p:grpSp>
        <p:nvGrpSpPr>
          <p:cNvPr name="Group 76" id="76"/>
          <p:cNvGrpSpPr/>
          <p:nvPr/>
        </p:nvGrpSpPr>
        <p:grpSpPr>
          <a:xfrm rot="0">
            <a:off x="15355517" y="7347186"/>
            <a:ext cx="1472011" cy="485775"/>
            <a:chOff x="0" y="0"/>
            <a:chExt cx="1962681" cy="647700"/>
          </a:xfrm>
        </p:grpSpPr>
        <p:sp>
          <p:nvSpPr>
            <p:cNvPr name="Freeform 77" id="77"/>
            <p:cNvSpPr/>
            <p:nvPr/>
          </p:nvSpPr>
          <p:spPr>
            <a:xfrm flipH="false" flipV="false" rot="0">
              <a:off x="323850" y="0"/>
              <a:ext cx="1314958" cy="647700"/>
            </a:xfrm>
            <a:custGeom>
              <a:avLst/>
              <a:gdLst/>
              <a:ahLst/>
              <a:cxnLst/>
              <a:rect r="r" b="b" t="t" l="l"/>
              <a:pathLst>
                <a:path h="647700" w="1314958">
                  <a:moveTo>
                    <a:pt x="0" y="0"/>
                  </a:moveTo>
                  <a:lnTo>
                    <a:pt x="1314958" y="0"/>
                  </a:lnTo>
                  <a:lnTo>
                    <a:pt x="1314958" y="647700"/>
                  </a:lnTo>
                  <a:lnTo>
                    <a:pt x="0" y="647700"/>
                  </a:lnTo>
                  <a:close/>
                </a:path>
              </a:pathLst>
            </a:custGeom>
            <a:solidFill>
              <a:srgbClr val="FF5757"/>
            </a:solidFill>
          </p:spPr>
        </p:sp>
      </p:grpSp>
      <p:grpSp>
        <p:nvGrpSpPr>
          <p:cNvPr name="Group 78" id="78"/>
          <p:cNvGrpSpPr/>
          <p:nvPr/>
        </p:nvGrpSpPr>
        <p:grpSpPr>
          <a:xfrm rot="0">
            <a:off x="10402480" y="4971688"/>
            <a:ext cx="4452576" cy="485775"/>
            <a:chOff x="0" y="0"/>
            <a:chExt cx="5936768" cy="647700"/>
          </a:xfrm>
        </p:grpSpPr>
        <p:sp>
          <p:nvSpPr>
            <p:cNvPr name="Freeform 79" id="79"/>
            <p:cNvSpPr/>
            <p:nvPr/>
          </p:nvSpPr>
          <p:spPr>
            <a:xfrm flipH="false" flipV="false" rot="0">
              <a:off x="323850" y="0"/>
              <a:ext cx="5289042" cy="647700"/>
            </a:xfrm>
            <a:custGeom>
              <a:avLst/>
              <a:gdLst/>
              <a:ahLst/>
              <a:cxnLst/>
              <a:rect r="r" b="b" t="t" l="l"/>
              <a:pathLst>
                <a:path h="647700" w="5289042">
                  <a:moveTo>
                    <a:pt x="0" y="0"/>
                  </a:moveTo>
                  <a:lnTo>
                    <a:pt x="5289042" y="0"/>
                  </a:lnTo>
                  <a:lnTo>
                    <a:pt x="5289042" y="647700"/>
                  </a:lnTo>
                  <a:lnTo>
                    <a:pt x="0" y="647700"/>
                  </a:lnTo>
                  <a:close/>
                </a:path>
              </a:pathLst>
            </a:custGeom>
            <a:solidFill>
              <a:srgbClr val="FFDE59"/>
            </a:solidFill>
          </p:spPr>
        </p:sp>
      </p:grpSp>
      <p:grpSp>
        <p:nvGrpSpPr>
          <p:cNvPr name="Group 80" id="80"/>
          <p:cNvGrpSpPr/>
          <p:nvPr/>
        </p:nvGrpSpPr>
        <p:grpSpPr>
          <a:xfrm rot="0">
            <a:off x="9429690" y="5566901"/>
            <a:ext cx="4430719" cy="485775"/>
            <a:chOff x="0" y="0"/>
            <a:chExt cx="5907625" cy="647700"/>
          </a:xfrm>
        </p:grpSpPr>
        <p:sp>
          <p:nvSpPr>
            <p:cNvPr name="Freeform 81" id="81"/>
            <p:cNvSpPr/>
            <p:nvPr/>
          </p:nvSpPr>
          <p:spPr>
            <a:xfrm flipH="false" flipV="false" rot="0">
              <a:off x="323850" y="0"/>
              <a:ext cx="5259959" cy="647700"/>
            </a:xfrm>
            <a:custGeom>
              <a:avLst/>
              <a:gdLst/>
              <a:ahLst/>
              <a:cxnLst/>
              <a:rect r="r" b="b" t="t" l="l"/>
              <a:pathLst>
                <a:path h="647700" w="5259959">
                  <a:moveTo>
                    <a:pt x="0" y="0"/>
                  </a:moveTo>
                  <a:lnTo>
                    <a:pt x="5259959" y="0"/>
                  </a:lnTo>
                  <a:lnTo>
                    <a:pt x="5259959" y="647700"/>
                  </a:lnTo>
                  <a:lnTo>
                    <a:pt x="0" y="647700"/>
                  </a:lnTo>
                  <a:close/>
                </a:path>
              </a:pathLst>
            </a:custGeom>
            <a:solidFill>
              <a:srgbClr val="00BF63"/>
            </a:solidFill>
          </p:spPr>
        </p:sp>
      </p:grpSp>
      <p:grpSp>
        <p:nvGrpSpPr>
          <p:cNvPr name="Group 82" id="82"/>
          <p:cNvGrpSpPr/>
          <p:nvPr/>
        </p:nvGrpSpPr>
        <p:grpSpPr>
          <a:xfrm rot="0">
            <a:off x="1703359" y="343008"/>
            <a:ext cx="14733814" cy="1238250"/>
            <a:chOff x="0" y="0"/>
            <a:chExt cx="19645085" cy="1651000"/>
          </a:xfrm>
        </p:grpSpPr>
        <p:sp>
          <p:nvSpPr>
            <p:cNvPr name="Freeform 83" id="83"/>
            <p:cNvSpPr/>
            <p:nvPr/>
          </p:nvSpPr>
          <p:spPr>
            <a:xfrm flipH="false" flipV="false" rot="0">
              <a:off x="0" y="0"/>
              <a:ext cx="19645086" cy="1651000"/>
            </a:xfrm>
            <a:custGeom>
              <a:avLst/>
              <a:gdLst/>
              <a:ahLst/>
              <a:cxnLst/>
              <a:rect r="r" b="b" t="t" l="l"/>
              <a:pathLst>
                <a:path h="1651000" w="19645086">
                  <a:moveTo>
                    <a:pt x="0" y="0"/>
                  </a:moveTo>
                  <a:lnTo>
                    <a:pt x="19645086" y="0"/>
                  </a:lnTo>
                  <a:lnTo>
                    <a:pt x="19645086" y="1651000"/>
                  </a:lnTo>
                  <a:lnTo>
                    <a:pt x="0" y="1651000"/>
                  </a:lnTo>
                  <a:close/>
                </a:path>
              </a:pathLst>
            </a:custGeom>
            <a:solidFill>
              <a:srgbClr val="000000">
                <a:alpha val="0"/>
              </a:srgbClr>
            </a:solidFill>
          </p:spPr>
        </p:sp>
        <p:sp>
          <p:nvSpPr>
            <p:cNvPr name="TextBox 84" id="84"/>
            <p:cNvSpPr txBox="true"/>
            <p:nvPr/>
          </p:nvSpPr>
          <p:spPr>
            <a:xfrm>
              <a:off x="0" y="-9525"/>
              <a:ext cx="19645085" cy="1660525"/>
            </a:xfrm>
            <a:prstGeom prst="rect">
              <a:avLst/>
            </a:prstGeom>
          </p:spPr>
          <p:txBody>
            <a:bodyPr anchor="t" rtlCol="false" tIns="0" lIns="0" bIns="0" rIns="0"/>
            <a:lstStyle/>
            <a:p>
              <a:pPr algn="l">
                <a:lnSpc>
                  <a:spcPts val="9718"/>
                </a:lnSpc>
              </a:pPr>
              <a:r>
                <a:rPr lang="en-US" sz="8098" b="true">
                  <a:solidFill>
                    <a:srgbClr val="0BB6BC"/>
                  </a:solidFill>
                  <a:latin typeface="Barlow Bold"/>
                  <a:ea typeface="Barlow Bold"/>
                  <a:cs typeface="Barlow Bold"/>
                  <a:sym typeface="Barlow Bold"/>
                </a:rPr>
                <a:t>Project Traction</a:t>
              </a:r>
            </a:p>
          </p:txBody>
        </p:sp>
      </p:grpSp>
      <p:grpSp>
        <p:nvGrpSpPr>
          <p:cNvPr name="Group 85" id="85"/>
          <p:cNvGrpSpPr/>
          <p:nvPr/>
        </p:nvGrpSpPr>
        <p:grpSpPr>
          <a:xfrm rot="0">
            <a:off x="-602092" y="8998522"/>
            <a:ext cx="18890092" cy="2585870"/>
            <a:chOff x="0" y="0"/>
            <a:chExt cx="25186789" cy="3447827"/>
          </a:xfrm>
        </p:grpSpPr>
        <p:sp>
          <p:nvSpPr>
            <p:cNvPr name="Freeform 86" id="86"/>
            <p:cNvSpPr/>
            <p:nvPr/>
          </p:nvSpPr>
          <p:spPr>
            <a:xfrm flipH="false" flipV="false" rot="0">
              <a:off x="0" y="0"/>
              <a:ext cx="25186767" cy="3447796"/>
            </a:xfrm>
            <a:custGeom>
              <a:avLst/>
              <a:gdLst/>
              <a:ahLst/>
              <a:cxnLst/>
              <a:rect r="r" b="b" t="t" l="l"/>
              <a:pathLst>
                <a:path h="3447796" w="25186767">
                  <a:moveTo>
                    <a:pt x="0" y="0"/>
                  </a:moveTo>
                  <a:lnTo>
                    <a:pt x="25186767" y="0"/>
                  </a:lnTo>
                  <a:lnTo>
                    <a:pt x="25186767" y="3447796"/>
                  </a:lnTo>
                  <a:lnTo>
                    <a:pt x="0" y="3447796"/>
                  </a:lnTo>
                  <a:close/>
                </a:path>
              </a:pathLst>
            </a:custGeom>
            <a:solidFill>
              <a:srgbClr val="90113E"/>
            </a:solidFill>
          </p:spPr>
        </p:sp>
      </p:grpSp>
      <p:grpSp>
        <p:nvGrpSpPr>
          <p:cNvPr name="Group 87" id="87"/>
          <p:cNvGrpSpPr/>
          <p:nvPr/>
        </p:nvGrpSpPr>
        <p:grpSpPr>
          <a:xfrm rot="0">
            <a:off x="17050357" y="9484941"/>
            <a:ext cx="798886" cy="347980"/>
            <a:chOff x="0" y="0"/>
            <a:chExt cx="1065181" cy="463973"/>
          </a:xfrm>
        </p:grpSpPr>
        <p:sp>
          <p:nvSpPr>
            <p:cNvPr name="Freeform 88" id="88"/>
            <p:cNvSpPr/>
            <p:nvPr/>
          </p:nvSpPr>
          <p:spPr>
            <a:xfrm flipH="false" flipV="false" rot="0">
              <a:off x="0" y="0"/>
              <a:ext cx="1065181" cy="463973"/>
            </a:xfrm>
            <a:custGeom>
              <a:avLst/>
              <a:gdLst/>
              <a:ahLst/>
              <a:cxnLst/>
              <a:rect r="r" b="b" t="t" l="l"/>
              <a:pathLst>
                <a:path h="463973" w="1065181">
                  <a:moveTo>
                    <a:pt x="0" y="0"/>
                  </a:moveTo>
                  <a:lnTo>
                    <a:pt x="1065181" y="0"/>
                  </a:lnTo>
                  <a:lnTo>
                    <a:pt x="1065181" y="463973"/>
                  </a:lnTo>
                  <a:lnTo>
                    <a:pt x="0" y="463973"/>
                  </a:lnTo>
                  <a:close/>
                </a:path>
              </a:pathLst>
            </a:custGeom>
            <a:solidFill>
              <a:srgbClr val="000000">
                <a:alpha val="0"/>
              </a:srgbClr>
            </a:solidFill>
          </p:spPr>
        </p:sp>
        <p:sp>
          <p:nvSpPr>
            <p:cNvPr name="TextBox 89" id="89"/>
            <p:cNvSpPr txBox="true"/>
            <p:nvPr/>
          </p:nvSpPr>
          <p:spPr>
            <a:xfrm>
              <a:off x="0" y="-19050"/>
              <a:ext cx="1065181" cy="483023"/>
            </a:xfrm>
            <a:prstGeom prst="rect">
              <a:avLst/>
            </a:prstGeom>
          </p:spPr>
          <p:txBody>
            <a:bodyPr anchor="t" rtlCol="false" tIns="0" lIns="0" bIns="0" rIns="0"/>
            <a:lstStyle/>
            <a:p>
              <a:pPr algn="r">
                <a:lnSpc>
                  <a:spcPts val="2749"/>
                </a:lnSpc>
              </a:pPr>
              <a:r>
                <a:rPr lang="en-US" sz="2199" b="true">
                  <a:solidFill>
                    <a:srgbClr val="000000"/>
                  </a:solidFill>
                  <a:latin typeface="Barlow Bold"/>
                  <a:ea typeface="Barlow Bold"/>
                  <a:cs typeface="Barlow Bold"/>
                  <a:sym typeface="Barlow Bold"/>
                </a:rPr>
                <a:t>23</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0"/>
            <a:ext cx="9341197" cy="10287000"/>
            <a:chOff x="0" y="0"/>
            <a:chExt cx="12454929" cy="13716000"/>
          </a:xfrm>
        </p:grpSpPr>
        <p:sp>
          <p:nvSpPr>
            <p:cNvPr name="Freeform 3" id="3"/>
            <p:cNvSpPr/>
            <p:nvPr/>
          </p:nvSpPr>
          <p:spPr>
            <a:xfrm flipH="false" flipV="false" rot="0">
              <a:off x="0" y="0"/>
              <a:ext cx="12454890" cy="13716000"/>
            </a:xfrm>
            <a:custGeom>
              <a:avLst/>
              <a:gdLst/>
              <a:ahLst/>
              <a:cxnLst/>
              <a:rect r="r" b="b" t="t" l="l"/>
              <a:pathLst>
                <a:path h="13716000" w="12454890">
                  <a:moveTo>
                    <a:pt x="0" y="0"/>
                  </a:moveTo>
                  <a:lnTo>
                    <a:pt x="12454890" y="0"/>
                  </a:lnTo>
                  <a:lnTo>
                    <a:pt x="12454890" y="13716000"/>
                  </a:lnTo>
                  <a:lnTo>
                    <a:pt x="0" y="13716000"/>
                  </a:lnTo>
                  <a:close/>
                </a:path>
              </a:pathLst>
            </a:custGeom>
            <a:solidFill>
              <a:srgbClr val="0BB6BC"/>
            </a:solidFill>
          </p:spPr>
        </p:sp>
      </p:grpSp>
      <p:sp>
        <p:nvSpPr>
          <p:cNvPr name="Freeform 4" id="4"/>
          <p:cNvSpPr/>
          <p:nvPr/>
        </p:nvSpPr>
        <p:spPr>
          <a:xfrm flipH="false" flipV="false" rot="0">
            <a:off x="1028700" y="2583708"/>
            <a:ext cx="6200420" cy="6200420"/>
          </a:xfrm>
          <a:custGeom>
            <a:avLst/>
            <a:gdLst/>
            <a:ahLst/>
            <a:cxnLst/>
            <a:rect r="r" b="b" t="t" l="l"/>
            <a:pathLst>
              <a:path h="6200420" w="6200420">
                <a:moveTo>
                  <a:pt x="0" y="0"/>
                </a:moveTo>
                <a:lnTo>
                  <a:pt x="6200420" y="0"/>
                </a:lnTo>
                <a:lnTo>
                  <a:pt x="6200420" y="6200420"/>
                </a:lnTo>
                <a:lnTo>
                  <a:pt x="0" y="62004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028700" y="404813"/>
            <a:ext cx="14733814" cy="1238250"/>
            <a:chOff x="0" y="0"/>
            <a:chExt cx="19645085" cy="1651000"/>
          </a:xfrm>
        </p:grpSpPr>
        <p:sp>
          <p:nvSpPr>
            <p:cNvPr name="Freeform 6" id="6"/>
            <p:cNvSpPr/>
            <p:nvPr/>
          </p:nvSpPr>
          <p:spPr>
            <a:xfrm flipH="false" flipV="false" rot="0">
              <a:off x="0" y="0"/>
              <a:ext cx="19645086" cy="1651000"/>
            </a:xfrm>
            <a:custGeom>
              <a:avLst/>
              <a:gdLst/>
              <a:ahLst/>
              <a:cxnLst/>
              <a:rect r="r" b="b" t="t" l="l"/>
              <a:pathLst>
                <a:path h="1651000" w="19645086">
                  <a:moveTo>
                    <a:pt x="0" y="0"/>
                  </a:moveTo>
                  <a:lnTo>
                    <a:pt x="19645086" y="0"/>
                  </a:lnTo>
                  <a:lnTo>
                    <a:pt x="19645086" y="1651000"/>
                  </a:lnTo>
                  <a:lnTo>
                    <a:pt x="0" y="1651000"/>
                  </a:lnTo>
                  <a:close/>
                </a:path>
              </a:pathLst>
            </a:custGeom>
            <a:solidFill>
              <a:srgbClr val="000000">
                <a:alpha val="0"/>
              </a:srgbClr>
            </a:solidFill>
          </p:spPr>
        </p:sp>
        <p:sp>
          <p:nvSpPr>
            <p:cNvPr name="TextBox 7" id="7"/>
            <p:cNvSpPr txBox="true"/>
            <p:nvPr/>
          </p:nvSpPr>
          <p:spPr>
            <a:xfrm>
              <a:off x="0" y="-9525"/>
              <a:ext cx="19645085" cy="1660525"/>
            </a:xfrm>
            <a:prstGeom prst="rect">
              <a:avLst/>
            </a:prstGeom>
          </p:spPr>
          <p:txBody>
            <a:bodyPr anchor="t" rtlCol="false" tIns="0" lIns="0" bIns="0" rIns="0"/>
            <a:lstStyle/>
            <a:p>
              <a:pPr algn="l">
                <a:lnSpc>
                  <a:spcPts val="9718"/>
                </a:lnSpc>
              </a:pPr>
              <a:r>
                <a:rPr lang="en-US" sz="8098" b="true">
                  <a:solidFill>
                    <a:srgbClr val="0BB6BC"/>
                  </a:solidFill>
                  <a:latin typeface="Barlow Bold"/>
                  <a:ea typeface="Barlow Bold"/>
                  <a:cs typeface="Barlow Bold"/>
                  <a:sym typeface="Barlow Bold"/>
                </a:rPr>
                <a:t>Business Model</a:t>
              </a:r>
            </a:p>
          </p:txBody>
        </p:sp>
      </p:grpSp>
      <p:grpSp>
        <p:nvGrpSpPr>
          <p:cNvPr name="Group 8" id="8"/>
          <p:cNvGrpSpPr/>
          <p:nvPr/>
        </p:nvGrpSpPr>
        <p:grpSpPr>
          <a:xfrm rot="0">
            <a:off x="17050357" y="9484941"/>
            <a:ext cx="798886" cy="347980"/>
            <a:chOff x="0" y="0"/>
            <a:chExt cx="1065181" cy="463973"/>
          </a:xfrm>
        </p:grpSpPr>
        <p:sp>
          <p:nvSpPr>
            <p:cNvPr name="Freeform 9" id="9"/>
            <p:cNvSpPr/>
            <p:nvPr/>
          </p:nvSpPr>
          <p:spPr>
            <a:xfrm flipH="false" flipV="false" rot="0">
              <a:off x="0" y="0"/>
              <a:ext cx="1065181" cy="463973"/>
            </a:xfrm>
            <a:custGeom>
              <a:avLst/>
              <a:gdLst/>
              <a:ahLst/>
              <a:cxnLst/>
              <a:rect r="r" b="b" t="t" l="l"/>
              <a:pathLst>
                <a:path h="463973" w="1065181">
                  <a:moveTo>
                    <a:pt x="0" y="0"/>
                  </a:moveTo>
                  <a:lnTo>
                    <a:pt x="1065181" y="0"/>
                  </a:lnTo>
                  <a:lnTo>
                    <a:pt x="1065181" y="463973"/>
                  </a:lnTo>
                  <a:lnTo>
                    <a:pt x="0" y="463973"/>
                  </a:lnTo>
                  <a:close/>
                </a:path>
              </a:pathLst>
            </a:custGeom>
            <a:solidFill>
              <a:srgbClr val="000000">
                <a:alpha val="0"/>
              </a:srgbClr>
            </a:solidFill>
          </p:spPr>
        </p:sp>
        <p:sp>
          <p:nvSpPr>
            <p:cNvPr name="TextBox 10" id="10"/>
            <p:cNvSpPr txBox="true"/>
            <p:nvPr/>
          </p:nvSpPr>
          <p:spPr>
            <a:xfrm>
              <a:off x="0" y="-19050"/>
              <a:ext cx="1065181" cy="483023"/>
            </a:xfrm>
            <a:prstGeom prst="rect">
              <a:avLst/>
            </a:prstGeom>
          </p:spPr>
          <p:txBody>
            <a:bodyPr anchor="t" rtlCol="false" tIns="0" lIns="0" bIns="0" rIns="0"/>
            <a:lstStyle/>
            <a:p>
              <a:pPr algn="r">
                <a:lnSpc>
                  <a:spcPts val="2749"/>
                </a:lnSpc>
              </a:pPr>
              <a:r>
                <a:rPr lang="en-US" sz="2199" b="true">
                  <a:solidFill>
                    <a:srgbClr val="000000"/>
                  </a:solidFill>
                  <a:latin typeface="Barlow Bold"/>
                  <a:ea typeface="Barlow Bold"/>
                  <a:cs typeface="Barlow Bold"/>
                  <a:sym typeface="Barlow Bold"/>
                </a:rPr>
                <a:t>23</a:t>
              </a:r>
            </a:p>
          </p:txBody>
        </p:sp>
      </p:grpSp>
      <p:grpSp>
        <p:nvGrpSpPr>
          <p:cNvPr name="Group 11" id="11"/>
          <p:cNvGrpSpPr/>
          <p:nvPr/>
        </p:nvGrpSpPr>
        <p:grpSpPr>
          <a:xfrm rot="0">
            <a:off x="9448567" y="845620"/>
            <a:ext cx="7810733" cy="11797044"/>
            <a:chOff x="0" y="0"/>
            <a:chExt cx="10414311" cy="15729392"/>
          </a:xfrm>
        </p:grpSpPr>
        <p:sp>
          <p:nvSpPr>
            <p:cNvPr name="Freeform 12" id="12"/>
            <p:cNvSpPr/>
            <p:nvPr/>
          </p:nvSpPr>
          <p:spPr>
            <a:xfrm flipH="false" flipV="false" rot="0">
              <a:off x="0" y="0"/>
              <a:ext cx="10414311" cy="15729392"/>
            </a:xfrm>
            <a:custGeom>
              <a:avLst/>
              <a:gdLst/>
              <a:ahLst/>
              <a:cxnLst/>
              <a:rect r="r" b="b" t="t" l="l"/>
              <a:pathLst>
                <a:path h="15729392" w="10414311">
                  <a:moveTo>
                    <a:pt x="0" y="0"/>
                  </a:moveTo>
                  <a:lnTo>
                    <a:pt x="10414311" y="0"/>
                  </a:lnTo>
                  <a:lnTo>
                    <a:pt x="10414311" y="15729392"/>
                  </a:lnTo>
                  <a:lnTo>
                    <a:pt x="0" y="15729392"/>
                  </a:lnTo>
                  <a:close/>
                </a:path>
              </a:pathLst>
            </a:custGeom>
            <a:solidFill>
              <a:srgbClr val="000000">
                <a:alpha val="0"/>
              </a:srgbClr>
            </a:solidFill>
          </p:spPr>
        </p:sp>
        <p:sp>
          <p:nvSpPr>
            <p:cNvPr name="TextBox 13" id="13"/>
            <p:cNvSpPr txBox="true"/>
            <p:nvPr/>
          </p:nvSpPr>
          <p:spPr>
            <a:xfrm>
              <a:off x="0" y="-57150"/>
              <a:ext cx="10414311" cy="15786542"/>
            </a:xfrm>
            <a:prstGeom prst="rect">
              <a:avLst/>
            </a:prstGeom>
          </p:spPr>
          <p:txBody>
            <a:bodyPr anchor="t" rtlCol="false" tIns="0" lIns="0" bIns="0" rIns="0"/>
            <a:lstStyle/>
            <a:p>
              <a:pPr algn="l">
                <a:lnSpc>
                  <a:spcPts val="4183"/>
                </a:lnSpc>
              </a:pPr>
            </a:p>
            <a:p>
              <a:pPr algn="l" marL="645109" indent="-322555" lvl="1">
                <a:lnSpc>
                  <a:spcPts val="4183"/>
                </a:lnSpc>
                <a:buFont typeface="Arial"/>
                <a:buChar char="•"/>
              </a:pPr>
              <a:r>
                <a:rPr lang="en-US" sz="2988" spc="11">
                  <a:solidFill>
                    <a:srgbClr val="000000"/>
                  </a:solidFill>
                  <a:latin typeface="Canva Sans"/>
                  <a:ea typeface="Canva Sans"/>
                  <a:cs typeface="Canva Sans"/>
                  <a:sym typeface="Canva Sans"/>
                </a:rPr>
                <a:t>Commission Model: 5–7% per transaction.</a:t>
              </a:r>
            </a:p>
            <a:p>
              <a:pPr algn="l">
                <a:lnSpc>
                  <a:spcPts val="4183"/>
                </a:lnSpc>
              </a:pPr>
            </a:p>
            <a:p>
              <a:pPr algn="l" marL="645109" indent="-322555" lvl="1">
                <a:lnSpc>
                  <a:spcPts val="4183"/>
                </a:lnSpc>
                <a:buFont typeface="Arial"/>
                <a:buChar char="•"/>
              </a:pPr>
              <a:r>
                <a:rPr lang="en-US" sz="2988" spc="11">
                  <a:solidFill>
                    <a:srgbClr val="000000"/>
                  </a:solidFill>
                  <a:latin typeface="Canva Sans"/>
                  <a:ea typeface="Canva Sans"/>
                  <a:cs typeface="Canva Sans"/>
                  <a:sym typeface="Canva Sans"/>
                </a:rPr>
                <a:t>Premium Buyer Accounts: Subscription-based features.</a:t>
              </a:r>
            </a:p>
            <a:p>
              <a:pPr algn="l">
                <a:lnSpc>
                  <a:spcPts val="4183"/>
                </a:lnSpc>
              </a:pPr>
            </a:p>
            <a:p>
              <a:pPr algn="l" marL="645109" indent="-322555" lvl="1">
                <a:lnSpc>
                  <a:spcPts val="4183"/>
                </a:lnSpc>
                <a:buFont typeface="Arial"/>
                <a:buChar char="•"/>
              </a:pPr>
              <a:r>
                <a:rPr lang="en-US" sz="2988" spc="11">
                  <a:solidFill>
                    <a:srgbClr val="000000"/>
                  </a:solidFill>
                  <a:latin typeface="Canva Sans"/>
                  <a:ea typeface="Canva Sans"/>
                  <a:cs typeface="Canva Sans"/>
                  <a:sym typeface="Canva Sans"/>
                </a:rPr>
                <a:t>Freemium Training: Basic access free, premium AI tools paid.</a:t>
              </a:r>
            </a:p>
            <a:p>
              <a:pPr algn="l">
                <a:lnSpc>
                  <a:spcPts val="4183"/>
                </a:lnSpc>
              </a:pPr>
            </a:p>
            <a:p>
              <a:pPr algn="l" marL="645109" indent="-322555" lvl="1">
                <a:lnSpc>
                  <a:spcPts val="4184"/>
                </a:lnSpc>
                <a:buFont typeface="Arial"/>
                <a:buChar char="•"/>
              </a:pPr>
              <a:r>
                <a:rPr lang="en-US" sz="2987" spc="14">
                  <a:solidFill>
                    <a:srgbClr val="000000"/>
                  </a:solidFill>
                  <a:latin typeface="Canva Sans"/>
                  <a:ea typeface="Canva Sans"/>
                  <a:cs typeface="Canva Sans"/>
                  <a:sym typeface="Canva Sans"/>
                </a:rPr>
                <a:t>Profit Margin Goal: 30–35% after year 2.</a:t>
              </a:r>
            </a:p>
            <a:p>
              <a:pPr algn="l">
                <a:lnSpc>
                  <a:spcPts val="4184"/>
                </a:lnSpc>
              </a:pPr>
            </a:p>
            <a:p>
              <a:pPr algn="l">
                <a:lnSpc>
                  <a:spcPts val="4184"/>
                </a:lnSpc>
              </a:pPr>
            </a:p>
            <a:p>
              <a:pPr algn="l">
                <a:lnSpc>
                  <a:spcPts val="4184"/>
                </a:lnSpc>
              </a:pPr>
            </a:p>
            <a:p>
              <a:pPr algn="l">
                <a:lnSpc>
                  <a:spcPts val="4184"/>
                </a:lnSpc>
              </a:pPr>
            </a:p>
            <a:p>
              <a:pPr algn="l">
                <a:lnSpc>
                  <a:spcPts val="4184"/>
                </a:lnSpc>
              </a:pPr>
            </a:p>
            <a:p>
              <a:pPr algn="l">
                <a:lnSpc>
                  <a:spcPts val="4184"/>
                </a:lnSpc>
              </a:pPr>
            </a:p>
            <a:p>
              <a:pPr algn="l">
                <a:lnSpc>
                  <a:spcPts val="4184"/>
                </a:lnSpc>
              </a:pPr>
            </a:p>
            <a:p>
              <a:pPr algn="l">
                <a:lnSpc>
                  <a:spcPts val="4184"/>
                </a:lnSpc>
              </a:pPr>
            </a:p>
            <a:p>
              <a:pPr algn="l">
                <a:lnSpc>
                  <a:spcPts val="4184"/>
                </a:lnSpc>
              </a:pPr>
            </a:p>
            <a:p>
              <a:pPr algn="l">
                <a:lnSpc>
                  <a:spcPts val="746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902317" cy="10287000"/>
            <a:chOff x="0" y="0"/>
            <a:chExt cx="2536423" cy="13716000"/>
          </a:xfrm>
        </p:grpSpPr>
        <p:sp>
          <p:nvSpPr>
            <p:cNvPr name="Freeform 3" id="3"/>
            <p:cNvSpPr/>
            <p:nvPr/>
          </p:nvSpPr>
          <p:spPr>
            <a:xfrm flipH="false" flipV="false" rot="0">
              <a:off x="0" y="0"/>
              <a:ext cx="2536444" cy="13716000"/>
            </a:xfrm>
            <a:custGeom>
              <a:avLst/>
              <a:gdLst/>
              <a:ahLst/>
              <a:cxnLst/>
              <a:rect r="r" b="b" t="t" l="l"/>
              <a:pathLst>
                <a:path h="13716000" w="2536444">
                  <a:moveTo>
                    <a:pt x="0" y="0"/>
                  </a:moveTo>
                  <a:lnTo>
                    <a:pt x="2536444" y="0"/>
                  </a:lnTo>
                  <a:lnTo>
                    <a:pt x="2536444" y="13716000"/>
                  </a:lnTo>
                  <a:lnTo>
                    <a:pt x="0" y="13716000"/>
                  </a:lnTo>
                  <a:close/>
                </a:path>
              </a:pathLst>
            </a:custGeom>
            <a:solidFill>
              <a:srgbClr val="90113E"/>
            </a:solidFill>
          </p:spPr>
        </p:sp>
      </p:grpSp>
      <p:sp>
        <p:nvSpPr>
          <p:cNvPr name="Freeform 4" id="4"/>
          <p:cNvSpPr/>
          <p:nvPr/>
        </p:nvSpPr>
        <p:spPr>
          <a:xfrm flipH="false" flipV="false" rot="0">
            <a:off x="-1902317" y="-84320"/>
            <a:ext cx="3804634" cy="10455640"/>
          </a:xfrm>
          <a:custGeom>
            <a:avLst/>
            <a:gdLst/>
            <a:ahLst/>
            <a:cxnLst/>
            <a:rect r="r" b="b" t="t" l="l"/>
            <a:pathLst>
              <a:path h="10455640" w="3804634">
                <a:moveTo>
                  <a:pt x="0" y="0"/>
                </a:moveTo>
                <a:lnTo>
                  <a:pt x="3804634" y="0"/>
                </a:lnTo>
                <a:lnTo>
                  <a:pt x="3804634" y="10455640"/>
                </a:lnTo>
                <a:lnTo>
                  <a:pt x="0" y="10455640"/>
                </a:lnTo>
                <a:lnTo>
                  <a:pt x="0" y="0"/>
                </a:lnTo>
                <a:close/>
              </a:path>
            </a:pathLst>
          </a:custGeom>
          <a:blipFill>
            <a:blip r:embed="rId2">
              <a:extLst>
                <a:ext uri="{96DAC541-7B7A-43D3-8B79-37D633B846F1}">
                  <asvg:svgBlip xmlns:asvg="http://schemas.microsoft.com/office/drawing/2016/SVG/main" r:embed="rId3"/>
                </a:ext>
              </a:extLst>
            </a:blip>
            <a:stretch>
              <a:fillRect l="-87406" t="0" r="-87406" b="0"/>
            </a:stretch>
          </a:blipFill>
        </p:spPr>
      </p:sp>
      <p:grpSp>
        <p:nvGrpSpPr>
          <p:cNvPr name="Group 5" id="5"/>
          <p:cNvGrpSpPr/>
          <p:nvPr/>
        </p:nvGrpSpPr>
        <p:grpSpPr>
          <a:xfrm rot="0">
            <a:off x="2176755" y="2579698"/>
            <a:ext cx="15451717" cy="3845595"/>
            <a:chOff x="0" y="0"/>
            <a:chExt cx="20602290" cy="5127460"/>
          </a:xfrm>
        </p:grpSpPr>
        <p:sp>
          <p:nvSpPr>
            <p:cNvPr name="Freeform 6" id="6"/>
            <p:cNvSpPr/>
            <p:nvPr/>
          </p:nvSpPr>
          <p:spPr>
            <a:xfrm flipH="false" flipV="false" rot="0">
              <a:off x="0" y="0"/>
              <a:ext cx="20602290" cy="5127460"/>
            </a:xfrm>
            <a:custGeom>
              <a:avLst/>
              <a:gdLst/>
              <a:ahLst/>
              <a:cxnLst/>
              <a:rect r="r" b="b" t="t" l="l"/>
              <a:pathLst>
                <a:path h="5127460" w="20602290">
                  <a:moveTo>
                    <a:pt x="0" y="0"/>
                  </a:moveTo>
                  <a:lnTo>
                    <a:pt x="20602290" y="0"/>
                  </a:lnTo>
                  <a:lnTo>
                    <a:pt x="20602290" y="5127460"/>
                  </a:lnTo>
                  <a:lnTo>
                    <a:pt x="0" y="5127460"/>
                  </a:lnTo>
                  <a:close/>
                </a:path>
              </a:pathLst>
            </a:custGeom>
            <a:solidFill>
              <a:srgbClr val="000000">
                <a:alpha val="0"/>
              </a:srgbClr>
            </a:solidFill>
          </p:spPr>
        </p:sp>
        <p:sp>
          <p:nvSpPr>
            <p:cNvPr name="TextBox 7" id="7"/>
            <p:cNvSpPr txBox="true"/>
            <p:nvPr/>
          </p:nvSpPr>
          <p:spPr>
            <a:xfrm>
              <a:off x="0" y="-66675"/>
              <a:ext cx="20602290" cy="5194135"/>
            </a:xfrm>
            <a:prstGeom prst="rect">
              <a:avLst/>
            </a:prstGeom>
          </p:spPr>
          <p:txBody>
            <a:bodyPr anchor="t" rtlCol="false" tIns="0" lIns="0" bIns="0" rIns="0"/>
            <a:lstStyle/>
            <a:p>
              <a:pPr algn="l" marL="774217" indent="-387108" lvl="1">
                <a:lnSpc>
                  <a:spcPts val="5020"/>
                </a:lnSpc>
                <a:buFont typeface="Arial"/>
                <a:buChar char="•"/>
              </a:pPr>
              <a:r>
                <a:rPr lang="en-US" sz="3585">
                  <a:solidFill>
                    <a:srgbClr val="000000"/>
                  </a:solidFill>
                  <a:latin typeface="Canva Sans"/>
                  <a:ea typeface="Canva Sans"/>
                  <a:cs typeface="Canva Sans"/>
                  <a:sym typeface="Canva Sans"/>
                </a:rPr>
                <a:t>Partner with farmer cooperatives and SACCOs for bulk onboarding.</a:t>
              </a:r>
            </a:p>
            <a:p>
              <a:pPr algn="l" marL="774217" indent="-387108" lvl="1">
                <a:lnSpc>
                  <a:spcPts val="5020"/>
                </a:lnSpc>
                <a:buFont typeface="Arial"/>
                <a:buChar char="•"/>
              </a:pPr>
              <a:r>
                <a:rPr lang="en-US" sz="3585">
                  <a:solidFill>
                    <a:srgbClr val="000000"/>
                  </a:solidFill>
                  <a:latin typeface="Canva Sans"/>
                  <a:ea typeface="Canva Sans"/>
                  <a:cs typeface="Canva Sans"/>
                  <a:sym typeface="Canva Sans"/>
                </a:rPr>
                <a:t>Use extension officers and agri-NGOs as local ambassadors.</a:t>
              </a:r>
            </a:p>
            <a:p>
              <a:pPr algn="l" marL="774217" indent="-387108" lvl="1">
                <a:lnSpc>
                  <a:spcPts val="5020"/>
                </a:lnSpc>
                <a:buFont typeface="Arial"/>
                <a:buChar char="•"/>
              </a:pPr>
              <a:r>
                <a:rPr lang="en-US" sz="3585">
                  <a:solidFill>
                    <a:srgbClr val="000000"/>
                  </a:solidFill>
                  <a:latin typeface="Canva Sans"/>
                  <a:ea typeface="Canva Sans"/>
                  <a:cs typeface="Canva Sans"/>
                  <a:sym typeface="Canva Sans"/>
                </a:rPr>
                <a:t>Regional radio campaigns plus SMS blasts to reach rural users.</a:t>
              </a:r>
            </a:p>
            <a:p>
              <a:pPr algn="l" marL="774217" indent="-387108" lvl="1">
                <a:lnSpc>
                  <a:spcPts val="5020"/>
                </a:lnSpc>
                <a:buFont typeface="Arial"/>
                <a:buChar char="•"/>
              </a:pPr>
              <a:r>
                <a:rPr lang="en-US" sz="3585">
                  <a:solidFill>
                    <a:srgbClr val="000000"/>
                  </a:solidFill>
                  <a:latin typeface="Canva Sans"/>
                  <a:ea typeface="Canva Sans"/>
                  <a:cs typeface="Canva Sans"/>
                  <a:sym typeface="Canva Sans"/>
                </a:rPr>
                <a:t>Begin pilot in Kisii, Kenya and scale to 3 counties in 6 months.</a:t>
              </a:r>
            </a:p>
            <a:p>
              <a:pPr algn="l">
                <a:lnSpc>
                  <a:spcPts val="5020"/>
                </a:lnSpc>
              </a:pPr>
            </a:p>
          </p:txBody>
        </p:sp>
      </p:grpSp>
      <p:grpSp>
        <p:nvGrpSpPr>
          <p:cNvPr name="Group 8" id="8"/>
          <p:cNvGrpSpPr/>
          <p:nvPr/>
        </p:nvGrpSpPr>
        <p:grpSpPr>
          <a:xfrm rot="0">
            <a:off x="2382668" y="667172"/>
            <a:ext cx="13944632" cy="1228725"/>
            <a:chOff x="0" y="0"/>
            <a:chExt cx="18592843" cy="1638300"/>
          </a:xfrm>
        </p:grpSpPr>
        <p:sp>
          <p:nvSpPr>
            <p:cNvPr name="Freeform 9" id="9"/>
            <p:cNvSpPr/>
            <p:nvPr/>
          </p:nvSpPr>
          <p:spPr>
            <a:xfrm flipH="false" flipV="false" rot="0">
              <a:off x="0" y="0"/>
              <a:ext cx="18592843" cy="1638300"/>
            </a:xfrm>
            <a:custGeom>
              <a:avLst/>
              <a:gdLst/>
              <a:ahLst/>
              <a:cxnLst/>
              <a:rect r="r" b="b" t="t" l="l"/>
              <a:pathLst>
                <a:path h="1638300" w="18592843">
                  <a:moveTo>
                    <a:pt x="0" y="0"/>
                  </a:moveTo>
                  <a:lnTo>
                    <a:pt x="18592843" y="0"/>
                  </a:lnTo>
                  <a:lnTo>
                    <a:pt x="18592843" y="1638300"/>
                  </a:lnTo>
                  <a:lnTo>
                    <a:pt x="0" y="1638300"/>
                  </a:lnTo>
                  <a:close/>
                </a:path>
              </a:pathLst>
            </a:custGeom>
            <a:solidFill>
              <a:srgbClr val="000000">
                <a:alpha val="0"/>
              </a:srgbClr>
            </a:solidFill>
          </p:spPr>
        </p:sp>
        <p:sp>
          <p:nvSpPr>
            <p:cNvPr name="TextBox 10" id="10"/>
            <p:cNvSpPr txBox="true"/>
            <p:nvPr/>
          </p:nvSpPr>
          <p:spPr>
            <a:xfrm>
              <a:off x="0" y="0"/>
              <a:ext cx="18592843" cy="1638300"/>
            </a:xfrm>
            <a:prstGeom prst="rect">
              <a:avLst/>
            </a:prstGeom>
          </p:spPr>
          <p:txBody>
            <a:bodyPr anchor="t" rtlCol="false" tIns="0" lIns="0" bIns="0" rIns="0"/>
            <a:lstStyle/>
            <a:p>
              <a:pPr algn="l">
                <a:lnSpc>
                  <a:spcPts val="9720"/>
                </a:lnSpc>
              </a:pPr>
              <a:r>
                <a:rPr lang="en-US" sz="8100" b="true">
                  <a:solidFill>
                    <a:srgbClr val="0BB6BC"/>
                  </a:solidFill>
                  <a:latin typeface="Barlow Bold"/>
                  <a:ea typeface="Barlow Bold"/>
                  <a:cs typeface="Barlow Bold"/>
                  <a:sym typeface="Barlow Bold"/>
                </a:rPr>
                <a:t>Go To Market</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902317" cy="10287000"/>
            <a:chOff x="0" y="0"/>
            <a:chExt cx="2536423" cy="13716000"/>
          </a:xfrm>
        </p:grpSpPr>
        <p:sp>
          <p:nvSpPr>
            <p:cNvPr name="Freeform 3" id="3"/>
            <p:cNvSpPr/>
            <p:nvPr/>
          </p:nvSpPr>
          <p:spPr>
            <a:xfrm flipH="false" flipV="false" rot="0">
              <a:off x="0" y="0"/>
              <a:ext cx="2536444" cy="13716000"/>
            </a:xfrm>
            <a:custGeom>
              <a:avLst/>
              <a:gdLst/>
              <a:ahLst/>
              <a:cxnLst/>
              <a:rect r="r" b="b" t="t" l="l"/>
              <a:pathLst>
                <a:path h="13716000" w="2536444">
                  <a:moveTo>
                    <a:pt x="0" y="0"/>
                  </a:moveTo>
                  <a:lnTo>
                    <a:pt x="2536444" y="0"/>
                  </a:lnTo>
                  <a:lnTo>
                    <a:pt x="2536444" y="13716000"/>
                  </a:lnTo>
                  <a:lnTo>
                    <a:pt x="0" y="13716000"/>
                  </a:lnTo>
                  <a:close/>
                </a:path>
              </a:pathLst>
            </a:custGeom>
            <a:solidFill>
              <a:srgbClr val="90113E"/>
            </a:solidFill>
          </p:spPr>
        </p:sp>
      </p:grpSp>
      <p:sp>
        <p:nvSpPr>
          <p:cNvPr name="Freeform 4" id="4"/>
          <p:cNvSpPr/>
          <p:nvPr/>
        </p:nvSpPr>
        <p:spPr>
          <a:xfrm flipH="false" flipV="false" rot="0">
            <a:off x="-1902317" y="-84320"/>
            <a:ext cx="3804634" cy="10455640"/>
          </a:xfrm>
          <a:custGeom>
            <a:avLst/>
            <a:gdLst/>
            <a:ahLst/>
            <a:cxnLst/>
            <a:rect r="r" b="b" t="t" l="l"/>
            <a:pathLst>
              <a:path h="10455640" w="3804634">
                <a:moveTo>
                  <a:pt x="0" y="0"/>
                </a:moveTo>
                <a:lnTo>
                  <a:pt x="3804634" y="0"/>
                </a:lnTo>
                <a:lnTo>
                  <a:pt x="3804634" y="10455640"/>
                </a:lnTo>
                <a:lnTo>
                  <a:pt x="0" y="10455640"/>
                </a:lnTo>
                <a:lnTo>
                  <a:pt x="0" y="0"/>
                </a:lnTo>
                <a:close/>
              </a:path>
            </a:pathLst>
          </a:custGeom>
          <a:blipFill>
            <a:blip r:embed="rId2">
              <a:extLst>
                <a:ext uri="{96DAC541-7B7A-43D3-8B79-37D633B846F1}">
                  <asvg:svgBlip xmlns:asvg="http://schemas.microsoft.com/office/drawing/2016/SVG/main" r:embed="rId3"/>
                </a:ext>
              </a:extLst>
            </a:blip>
            <a:stretch>
              <a:fillRect l="-87406" t="0" r="-87406" b="0"/>
            </a:stretch>
          </a:blipFill>
        </p:spPr>
      </p:sp>
      <p:grpSp>
        <p:nvGrpSpPr>
          <p:cNvPr name="Group 5" id="5"/>
          <p:cNvGrpSpPr/>
          <p:nvPr/>
        </p:nvGrpSpPr>
        <p:grpSpPr>
          <a:xfrm rot="0">
            <a:off x="2176755" y="2579698"/>
            <a:ext cx="15082545" cy="10100184"/>
            <a:chOff x="0" y="0"/>
            <a:chExt cx="20110060" cy="13466912"/>
          </a:xfrm>
        </p:grpSpPr>
        <p:sp>
          <p:nvSpPr>
            <p:cNvPr name="Freeform 6" id="6"/>
            <p:cNvSpPr/>
            <p:nvPr/>
          </p:nvSpPr>
          <p:spPr>
            <a:xfrm flipH="false" flipV="false" rot="0">
              <a:off x="0" y="0"/>
              <a:ext cx="20110059" cy="13466911"/>
            </a:xfrm>
            <a:custGeom>
              <a:avLst/>
              <a:gdLst/>
              <a:ahLst/>
              <a:cxnLst/>
              <a:rect r="r" b="b" t="t" l="l"/>
              <a:pathLst>
                <a:path h="13466911" w="20110059">
                  <a:moveTo>
                    <a:pt x="0" y="0"/>
                  </a:moveTo>
                  <a:lnTo>
                    <a:pt x="20110059" y="0"/>
                  </a:lnTo>
                  <a:lnTo>
                    <a:pt x="20110059" y="13466911"/>
                  </a:lnTo>
                  <a:lnTo>
                    <a:pt x="0" y="13466911"/>
                  </a:lnTo>
                  <a:close/>
                </a:path>
              </a:pathLst>
            </a:custGeom>
            <a:solidFill>
              <a:srgbClr val="000000">
                <a:alpha val="0"/>
              </a:srgbClr>
            </a:solidFill>
          </p:spPr>
        </p:sp>
        <p:sp>
          <p:nvSpPr>
            <p:cNvPr name="TextBox 7" id="7"/>
            <p:cNvSpPr txBox="true"/>
            <p:nvPr/>
          </p:nvSpPr>
          <p:spPr>
            <a:xfrm>
              <a:off x="0" y="0"/>
              <a:ext cx="20110060" cy="13466912"/>
            </a:xfrm>
            <a:prstGeom prst="rect">
              <a:avLst/>
            </a:prstGeom>
          </p:spPr>
          <p:txBody>
            <a:bodyPr anchor="t" rtlCol="false" tIns="0" lIns="0" bIns="0" rIns="0"/>
            <a:lstStyle/>
            <a:p>
              <a:pPr algn="l">
                <a:lnSpc>
                  <a:spcPts val="4371"/>
                </a:lnSpc>
              </a:pPr>
              <a:r>
                <a:rPr lang="en-US" sz="3585">
                  <a:solidFill>
                    <a:srgbClr val="000000"/>
                  </a:solidFill>
                  <a:latin typeface="Canva Sans"/>
                  <a:ea typeface="Canva Sans"/>
                  <a:cs typeface="Canva Sans"/>
                  <a:sym typeface="Canva Sans"/>
                </a:rPr>
                <a:t>The following sustainable development goals based by the United Nations will be achieved:</a:t>
              </a:r>
            </a:p>
            <a:p>
              <a:pPr algn="l">
                <a:lnSpc>
                  <a:spcPts val="4371"/>
                </a:lnSpc>
              </a:pPr>
            </a:p>
            <a:p>
              <a:pPr algn="l" marL="774217" indent="-387108" lvl="1">
                <a:lnSpc>
                  <a:spcPts val="4371"/>
                </a:lnSpc>
                <a:buFont typeface="Arial"/>
                <a:buChar char="•"/>
              </a:pPr>
              <a:r>
                <a:rPr lang="en-US" sz="3585">
                  <a:solidFill>
                    <a:srgbClr val="000000"/>
                  </a:solidFill>
                  <a:latin typeface="Canva Sans"/>
                  <a:ea typeface="Canva Sans"/>
                  <a:cs typeface="Canva Sans"/>
                  <a:sym typeface="Canva Sans"/>
                </a:rPr>
                <a:t>SDG 1: No Poverty</a:t>
              </a:r>
            </a:p>
            <a:p>
              <a:pPr algn="l" marL="774217" indent="-387108" lvl="1">
                <a:lnSpc>
                  <a:spcPts val="4371"/>
                </a:lnSpc>
                <a:buFont typeface="Arial"/>
                <a:buChar char="•"/>
              </a:pPr>
              <a:r>
                <a:rPr lang="en-US" sz="3585">
                  <a:solidFill>
                    <a:srgbClr val="000000"/>
                  </a:solidFill>
                  <a:latin typeface="Canva Sans"/>
                  <a:ea typeface="Canva Sans"/>
                  <a:cs typeface="Canva Sans"/>
                  <a:sym typeface="Canva Sans"/>
                </a:rPr>
                <a:t>SDG 2: Zero Hunger</a:t>
              </a:r>
            </a:p>
            <a:p>
              <a:pPr algn="l" marL="774217" indent="-387108" lvl="1">
                <a:lnSpc>
                  <a:spcPts val="4371"/>
                </a:lnSpc>
                <a:buFont typeface="Arial"/>
                <a:buChar char="•"/>
              </a:pPr>
              <a:r>
                <a:rPr lang="en-US" sz="3585">
                  <a:solidFill>
                    <a:srgbClr val="000000"/>
                  </a:solidFill>
                  <a:latin typeface="Canva Sans"/>
                  <a:ea typeface="Canva Sans"/>
                  <a:cs typeface="Canva Sans"/>
                  <a:sym typeface="Canva Sans"/>
                </a:rPr>
                <a:t>SDG 9: Industry, Innovation &amp; Infrastructure</a:t>
              </a:r>
            </a:p>
            <a:p>
              <a:pPr algn="l" marL="774217" indent="-387108" lvl="1">
                <a:lnSpc>
                  <a:spcPts val="4371"/>
                </a:lnSpc>
                <a:buFont typeface="Arial"/>
                <a:buChar char="•"/>
              </a:pPr>
              <a:r>
                <a:rPr lang="en-US" sz="3585">
                  <a:solidFill>
                    <a:srgbClr val="000000"/>
                  </a:solidFill>
                  <a:latin typeface="Canva Sans"/>
                  <a:ea typeface="Canva Sans"/>
                  <a:cs typeface="Canva Sans"/>
                  <a:sym typeface="Canva Sans"/>
                </a:rPr>
                <a:t>SDG 12: Responsible Consumption &amp; Production</a:t>
              </a:r>
            </a:p>
            <a:p>
              <a:pPr algn="l" marL="774217" indent="-387108" lvl="1">
                <a:lnSpc>
                  <a:spcPts val="4371"/>
                </a:lnSpc>
                <a:buFont typeface="Arial"/>
                <a:buChar char="•"/>
              </a:pPr>
              <a:r>
                <a:rPr lang="en-US" sz="3585">
                  <a:solidFill>
                    <a:srgbClr val="000000"/>
                  </a:solidFill>
                  <a:latin typeface="Canva Sans"/>
                  <a:ea typeface="Canva Sans"/>
                  <a:cs typeface="Canva Sans"/>
                  <a:sym typeface="Canva Sans"/>
                </a:rPr>
                <a:t>SDG 13: Climate Action (via reduced waste)</a:t>
              </a:r>
            </a:p>
            <a:p>
              <a:pPr algn="l">
                <a:lnSpc>
                  <a:spcPts val="4372"/>
                </a:lnSpc>
              </a:pPr>
            </a:p>
            <a:p>
              <a:pPr algn="l">
                <a:lnSpc>
                  <a:spcPts val="4372"/>
                </a:lnSpc>
              </a:pPr>
            </a:p>
            <a:p>
              <a:pPr algn="l">
                <a:lnSpc>
                  <a:spcPts val="4372"/>
                </a:lnSpc>
              </a:pPr>
            </a:p>
            <a:p>
              <a:pPr algn="l">
                <a:lnSpc>
                  <a:spcPts val="4372"/>
                </a:lnSpc>
              </a:pPr>
            </a:p>
            <a:p>
              <a:pPr algn="l">
                <a:lnSpc>
                  <a:spcPts val="4372"/>
                </a:lnSpc>
              </a:pPr>
            </a:p>
            <a:p>
              <a:pPr algn="l">
                <a:lnSpc>
                  <a:spcPts val="4372"/>
                </a:lnSpc>
              </a:pPr>
            </a:p>
            <a:p>
              <a:pPr algn="l">
                <a:lnSpc>
                  <a:spcPts val="4372"/>
                </a:lnSpc>
              </a:pPr>
            </a:p>
            <a:p>
              <a:pPr algn="l">
                <a:lnSpc>
                  <a:spcPts val="4372"/>
                </a:lnSpc>
              </a:pPr>
            </a:p>
            <a:p>
              <a:pPr algn="l">
                <a:lnSpc>
                  <a:spcPts val="4372"/>
                </a:lnSpc>
              </a:pPr>
            </a:p>
            <a:p>
              <a:pPr algn="l">
                <a:lnSpc>
                  <a:spcPts val="4372"/>
                </a:lnSpc>
              </a:pPr>
            </a:p>
          </p:txBody>
        </p:sp>
      </p:grpSp>
      <p:grpSp>
        <p:nvGrpSpPr>
          <p:cNvPr name="Group 8" id="8"/>
          <p:cNvGrpSpPr/>
          <p:nvPr/>
        </p:nvGrpSpPr>
        <p:grpSpPr>
          <a:xfrm rot="0">
            <a:off x="2382668" y="667172"/>
            <a:ext cx="13944632" cy="1228725"/>
            <a:chOff x="0" y="0"/>
            <a:chExt cx="18592843" cy="1638300"/>
          </a:xfrm>
        </p:grpSpPr>
        <p:sp>
          <p:nvSpPr>
            <p:cNvPr name="Freeform 9" id="9"/>
            <p:cNvSpPr/>
            <p:nvPr/>
          </p:nvSpPr>
          <p:spPr>
            <a:xfrm flipH="false" flipV="false" rot="0">
              <a:off x="0" y="0"/>
              <a:ext cx="18592843" cy="1638300"/>
            </a:xfrm>
            <a:custGeom>
              <a:avLst/>
              <a:gdLst/>
              <a:ahLst/>
              <a:cxnLst/>
              <a:rect r="r" b="b" t="t" l="l"/>
              <a:pathLst>
                <a:path h="1638300" w="18592843">
                  <a:moveTo>
                    <a:pt x="0" y="0"/>
                  </a:moveTo>
                  <a:lnTo>
                    <a:pt x="18592843" y="0"/>
                  </a:lnTo>
                  <a:lnTo>
                    <a:pt x="18592843" y="1638300"/>
                  </a:lnTo>
                  <a:lnTo>
                    <a:pt x="0" y="1638300"/>
                  </a:lnTo>
                  <a:close/>
                </a:path>
              </a:pathLst>
            </a:custGeom>
            <a:solidFill>
              <a:srgbClr val="000000">
                <a:alpha val="0"/>
              </a:srgbClr>
            </a:solidFill>
          </p:spPr>
        </p:sp>
        <p:sp>
          <p:nvSpPr>
            <p:cNvPr name="TextBox 10" id="10"/>
            <p:cNvSpPr txBox="true"/>
            <p:nvPr/>
          </p:nvSpPr>
          <p:spPr>
            <a:xfrm>
              <a:off x="0" y="0"/>
              <a:ext cx="18592843" cy="1638300"/>
            </a:xfrm>
            <a:prstGeom prst="rect">
              <a:avLst/>
            </a:prstGeom>
          </p:spPr>
          <p:txBody>
            <a:bodyPr anchor="t" rtlCol="false" tIns="0" lIns="0" bIns="0" rIns="0"/>
            <a:lstStyle/>
            <a:p>
              <a:pPr algn="l">
                <a:lnSpc>
                  <a:spcPts val="9720"/>
                </a:lnSpc>
              </a:pPr>
              <a:r>
                <a:rPr lang="en-US" sz="8100" b="true">
                  <a:solidFill>
                    <a:srgbClr val="0BB6BC"/>
                  </a:solidFill>
                  <a:latin typeface="Barlow Bold"/>
                  <a:ea typeface="Barlow Bold"/>
                  <a:cs typeface="Barlow Bold"/>
                  <a:sym typeface="Barlow Bold"/>
                </a:rPr>
                <a:t>Social Impact</a:t>
              </a:r>
            </a:p>
          </p:txBody>
        </p:sp>
      </p:gr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2306702"/>
            <a:ext cx="14180848" cy="5785200"/>
            <a:chOff x="0" y="0"/>
            <a:chExt cx="18907797" cy="7713599"/>
          </a:xfrm>
        </p:grpSpPr>
        <p:sp>
          <p:nvSpPr>
            <p:cNvPr name="Freeform 3" id="3"/>
            <p:cNvSpPr/>
            <p:nvPr/>
          </p:nvSpPr>
          <p:spPr>
            <a:xfrm flipH="false" flipV="false" rot="0">
              <a:off x="0" y="0"/>
              <a:ext cx="18907798" cy="7713600"/>
            </a:xfrm>
            <a:custGeom>
              <a:avLst/>
              <a:gdLst/>
              <a:ahLst/>
              <a:cxnLst/>
              <a:rect r="r" b="b" t="t" l="l"/>
              <a:pathLst>
                <a:path h="7713600" w="18907798">
                  <a:moveTo>
                    <a:pt x="0" y="0"/>
                  </a:moveTo>
                  <a:lnTo>
                    <a:pt x="18907798" y="0"/>
                  </a:lnTo>
                  <a:lnTo>
                    <a:pt x="18907798" y="7713600"/>
                  </a:lnTo>
                  <a:lnTo>
                    <a:pt x="0" y="7713600"/>
                  </a:lnTo>
                  <a:close/>
                </a:path>
              </a:pathLst>
            </a:custGeom>
            <a:solidFill>
              <a:srgbClr val="000000">
                <a:alpha val="0"/>
              </a:srgbClr>
            </a:solidFill>
          </p:spPr>
        </p:sp>
        <p:sp>
          <p:nvSpPr>
            <p:cNvPr name="TextBox 4" id="4"/>
            <p:cNvSpPr txBox="true"/>
            <p:nvPr/>
          </p:nvSpPr>
          <p:spPr>
            <a:xfrm>
              <a:off x="0" y="-133350"/>
              <a:ext cx="18907797" cy="7846949"/>
            </a:xfrm>
            <a:prstGeom prst="rect">
              <a:avLst/>
            </a:prstGeom>
          </p:spPr>
          <p:txBody>
            <a:bodyPr anchor="t" rtlCol="false" tIns="0" lIns="0" bIns="0" rIns="0"/>
            <a:lstStyle/>
            <a:p>
              <a:pPr algn="l" marL="998067" indent="-332689" lvl="2">
                <a:lnSpc>
                  <a:spcPts val="6544"/>
                </a:lnSpc>
                <a:buFont typeface="Arial"/>
                <a:buChar char="⚬"/>
              </a:pPr>
              <a:r>
                <a:rPr lang="en-US" sz="4365" spc="17">
                  <a:solidFill>
                    <a:srgbClr val="000000"/>
                  </a:solidFill>
                  <a:latin typeface="Barlow"/>
                  <a:ea typeface="Barlow"/>
                  <a:cs typeface="Barlow"/>
                  <a:sym typeface="Barlow"/>
                </a:rPr>
                <a:t>$75,000 seed funding.</a:t>
              </a:r>
            </a:p>
            <a:p>
              <a:pPr algn="l">
                <a:lnSpc>
                  <a:spcPts val="6544"/>
                </a:lnSpc>
              </a:pPr>
              <a:r>
                <a:rPr lang="en-US" sz="4365" spc="17">
                  <a:solidFill>
                    <a:srgbClr val="000000"/>
                  </a:solidFill>
                  <a:latin typeface="Barlow"/>
                  <a:ea typeface="Barlow"/>
                  <a:cs typeface="Barlow"/>
                  <a:sym typeface="Barlow"/>
                </a:rPr>
                <a:t>Use of Funds:</a:t>
              </a:r>
            </a:p>
            <a:p>
              <a:pPr algn="l" marL="1885238" indent="-628413" lvl="2">
                <a:lnSpc>
                  <a:spcPts val="6544"/>
                </a:lnSpc>
                <a:buAutoNum type="alphaLcPeriod" startAt="1"/>
              </a:pPr>
              <a:r>
                <a:rPr lang="en-US" sz="4365" spc="17">
                  <a:solidFill>
                    <a:srgbClr val="000000"/>
                  </a:solidFill>
                  <a:latin typeface="Barlow"/>
                  <a:ea typeface="Barlow"/>
                  <a:cs typeface="Barlow"/>
                  <a:sym typeface="Barlow"/>
                </a:rPr>
                <a:t>40% – Platform development and AI tools.</a:t>
              </a:r>
            </a:p>
            <a:p>
              <a:pPr algn="l" marL="1885238" indent="-628413" lvl="2">
                <a:lnSpc>
                  <a:spcPts val="6544"/>
                </a:lnSpc>
                <a:buAutoNum type="alphaLcPeriod" startAt="1"/>
              </a:pPr>
              <a:r>
                <a:rPr lang="en-US" sz="4365" spc="17">
                  <a:solidFill>
                    <a:srgbClr val="000000"/>
                  </a:solidFill>
                  <a:latin typeface="Barlow"/>
                  <a:ea typeface="Barlow"/>
                  <a:cs typeface="Barlow"/>
                  <a:sym typeface="Barlow"/>
                </a:rPr>
                <a:t>30% – Farmer training and onboarding.</a:t>
              </a:r>
            </a:p>
            <a:p>
              <a:pPr algn="l" marL="1885238" indent="-628413" lvl="2">
                <a:lnSpc>
                  <a:spcPts val="6544"/>
                </a:lnSpc>
                <a:buAutoNum type="alphaLcPeriod" startAt="1"/>
              </a:pPr>
              <a:r>
                <a:rPr lang="en-US" sz="4365" spc="17">
                  <a:solidFill>
                    <a:srgbClr val="000000"/>
                  </a:solidFill>
                  <a:latin typeface="Barlow"/>
                  <a:ea typeface="Barlow"/>
                  <a:cs typeface="Barlow"/>
                  <a:sym typeface="Barlow"/>
                </a:rPr>
                <a:t>20% – Marketing and local partnerships.</a:t>
              </a:r>
            </a:p>
            <a:p>
              <a:pPr algn="l" marL="1885238" indent="-628413" lvl="2">
                <a:lnSpc>
                  <a:spcPts val="6544"/>
                </a:lnSpc>
                <a:buAutoNum type="alphaLcPeriod" startAt="1"/>
              </a:pPr>
              <a:r>
                <a:rPr lang="en-US" sz="4365" spc="17">
                  <a:solidFill>
                    <a:srgbClr val="000000"/>
                  </a:solidFill>
                  <a:latin typeface="Barlow"/>
                  <a:ea typeface="Barlow"/>
                  <a:cs typeface="Barlow"/>
                  <a:sym typeface="Barlow"/>
                </a:rPr>
                <a:t>10% – Legal + compliance setup.</a:t>
              </a:r>
            </a:p>
            <a:p>
              <a:pPr algn="l">
                <a:lnSpc>
                  <a:spcPts val="6544"/>
                </a:lnSpc>
              </a:pPr>
            </a:p>
          </p:txBody>
        </p:sp>
      </p:grpSp>
      <p:grpSp>
        <p:nvGrpSpPr>
          <p:cNvPr name="Group 5" id="5"/>
          <p:cNvGrpSpPr/>
          <p:nvPr/>
        </p:nvGrpSpPr>
        <p:grpSpPr>
          <a:xfrm rot="0">
            <a:off x="1028700" y="657822"/>
            <a:ext cx="6896736" cy="1228725"/>
            <a:chOff x="0" y="0"/>
            <a:chExt cx="9195648" cy="1638300"/>
          </a:xfrm>
        </p:grpSpPr>
        <p:sp>
          <p:nvSpPr>
            <p:cNvPr name="Freeform 6" id="6"/>
            <p:cNvSpPr/>
            <p:nvPr/>
          </p:nvSpPr>
          <p:spPr>
            <a:xfrm flipH="false" flipV="false" rot="0">
              <a:off x="0" y="0"/>
              <a:ext cx="9195648" cy="1638300"/>
            </a:xfrm>
            <a:custGeom>
              <a:avLst/>
              <a:gdLst/>
              <a:ahLst/>
              <a:cxnLst/>
              <a:rect r="r" b="b" t="t" l="l"/>
              <a:pathLst>
                <a:path h="1638300" w="9195648">
                  <a:moveTo>
                    <a:pt x="0" y="0"/>
                  </a:moveTo>
                  <a:lnTo>
                    <a:pt x="9195648" y="0"/>
                  </a:lnTo>
                  <a:lnTo>
                    <a:pt x="9195648" y="1638300"/>
                  </a:lnTo>
                  <a:lnTo>
                    <a:pt x="0" y="1638300"/>
                  </a:lnTo>
                  <a:close/>
                </a:path>
              </a:pathLst>
            </a:custGeom>
            <a:solidFill>
              <a:srgbClr val="000000">
                <a:alpha val="0"/>
              </a:srgbClr>
            </a:solidFill>
          </p:spPr>
        </p:sp>
        <p:sp>
          <p:nvSpPr>
            <p:cNvPr name="TextBox 7" id="7"/>
            <p:cNvSpPr txBox="true"/>
            <p:nvPr/>
          </p:nvSpPr>
          <p:spPr>
            <a:xfrm>
              <a:off x="0" y="0"/>
              <a:ext cx="9195648" cy="1638300"/>
            </a:xfrm>
            <a:prstGeom prst="rect">
              <a:avLst/>
            </a:prstGeom>
          </p:spPr>
          <p:txBody>
            <a:bodyPr anchor="t" rtlCol="false" tIns="0" lIns="0" bIns="0" rIns="0"/>
            <a:lstStyle/>
            <a:p>
              <a:pPr algn="l">
                <a:lnSpc>
                  <a:spcPts val="9720"/>
                </a:lnSpc>
              </a:pPr>
              <a:r>
                <a:rPr lang="en-US" sz="8100" b="true">
                  <a:solidFill>
                    <a:srgbClr val="0BB6BC"/>
                  </a:solidFill>
                  <a:latin typeface="Barlow Bold"/>
                  <a:ea typeface="Barlow Bold"/>
                  <a:cs typeface="Barlow Bold"/>
                  <a:sym typeface="Barlow Bold"/>
                </a:rPr>
                <a:t>Our Ask</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105725" y="1028700"/>
            <a:ext cx="13944632" cy="1228725"/>
            <a:chOff x="0" y="0"/>
            <a:chExt cx="18592843" cy="1638300"/>
          </a:xfrm>
        </p:grpSpPr>
        <p:sp>
          <p:nvSpPr>
            <p:cNvPr name="Freeform 3" id="3"/>
            <p:cNvSpPr/>
            <p:nvPr/>
          </p:nvSpPr>
          <p:spPr>
            <a:xfrm flipH="false" flipV="false" rot="0">
              <a:off x="0" y="0"/>
              <a:ext cx="18592843" cy="1638300"/>
            </a:xfrm>
            <a:custGeom>
              <a:avLst/>
              <a:gdLst/>
              <a:ahLst/>
              <a:cxnLst/>
              <a:rect r="r" b="b" t="t" l="l"/>
              <a:pathLst>
                <a:path h="1638300" w="18592843">
                  <a:moveTo>
                    <a:pt x="0" y="0"/>
                  </a:moveTo>
                  <a:lnTo>
                    <a:pt x="18592843" y="0"/>
                  </a:lnTo>
                  <a:lnTo>
                    <a:pt x="18592843" y="1638300"/>
                  </a:lnTo>
                  <a:lnTo>
                    <a:pt x="0" y="1638300"/>
                  </a:lnTo>
                  <a:close/>
                </a:path>
              </a:pathLst>
            </a:custGeom>
            <a:solidFill>
              <a:srgbClr val="000000">
                <a:alpha val="0"/>
              </a:srgbClr>
            </a:solidFill>
          </p:spPr>
        </p:sp>
        <p:sp>
          <p:nvSpPr>
            <p:cNvPr name="TextBox 4" id="4"/>
            <p:cNvSpPr txBox="true"/>
            <p:nvPr/>
          </p:nvSpPr>
          <p:spPr>
            <a:xfrm>
              <a:off x="0" y="0"/>
              <a:ext cx="18592843" cy="1638300"/>
            </a:xfrm>
            <a:prstGeom prst="rect">
              <a:avLst/>
            </a:prstGeom>
          </p:spPr>
          <p:txBody>
            <a:bodyPr anchor="t" rtlCol="false" tIns="0" lIns="0" bIns="0" rIns="0"/>
            <a:lstStyle/>
            <a:p>
              <a:pPr algn="l">
                <a:lnSpc>
                  <a:spcPts val="9720"/>
                </a:lnSpc>
              </a:pPr>
              <a:r>
                <a:rPr lang="en-US" sz="8100" b="true">
                  <a:solidFill>
                    <a:srgbClr val="0BB6BC"/>
                  </a:solidFill>
                  <a:latin typeface="Barlow Bold"/>
                  <a:ea typeface="Barlow Bold"/>
                  <a:cs typeface="Barlow Bold"/>
                  <a:sym typeface="Barlow Bold"/>
                </a:rPr>
                <a:t> Team Members </a:t>
              </a:r>
            </a:p>
          </p:txBody>
        </p:sp>
      </p:grpSp>
      <p:grpSp>
        <p:nvGrpSpPr>
          <p:cNvPr name="Group 5" id="5"/>
          <p:cNvGrpSpPr/>
          <p:nvPr/>
        </p:nvGrpSpPr>
        <p:grpSpPr>
          <a:xfrm rot="0">
            <a:off x="3105725" y="2483650"/>
            <a:ext cx="12322393" cy="530702"/>
            <a:chOff x="0" y="0"/>
            <a:chExt cx="16429858" cy="707602"/>
          </a:xfrm>
        </p:grpSpPr>
        <p:sp>
          <p:nvSpPr>
            <p:cNvPr name="Freeform 6" id="6"/>
            <p:cNvSpPr/>
            <p:nvPr/>
          </p:nvSpPr>
          <p:spPr>
            <a:xfrm flipH="false" flipV="false" rot="0">
              <a:off x="0" y="0"/>
              <a:ext cx="16429858" cy="707602"/>
            </a:xfrm>
            <a:custGeom>
              <a:avLst/>
              <a:gdLst/>
              <a:ahLst/>
              <a:cxnLst/>
              <a:rect r="r" b="b" t="t" l="l"/>
              <a:pathLst>
                <a:path h="707602" w="16429858">
                  <a:moveTo>
                    <a:pt x="0" y="0"/>
                  </a:moveTo>
                  <a:lnTo>
                    <a:pt x="16429858" y="0"/>
                  </a:lnTo>
                  <a:lnTo>
                    <a:pt x="16429858" y="707602"/>
                  </a:lnTo>
                  <a:lnTo>
                    <a:pt x="0" y="707602"/>
                  </a:lnTo>
                  <a:close/>
                </a:path>
              </a:pathLst>
            </a:custGeom>
            <a:solidFill>
              <a:srgbClr val="000000">
                <a:alpha val="0"/>
              </a:srgbClr>
            </a:solidFill>
          </p:spPr>
        </p:sp>
        <p:sp>
          <p:nvSpPr>
            <p:cNvPr name="TextBox 7" id="7"/>
            <p:cNvSpPr txBox="true"/>
            <p:nvPr/>
          </p:nvSpPr>
          <p:spPr>
            <a:xfrm>
              <a:off x="0" y="-66675"/>
              <a:ext cx="16429858" cy="774277"/>
            </a:xfrm>
            <a:prstGeom prst="rect">
              <a:avLst/>
            </a:prstGeom>
          </p:spPr>
          <p:txBody>
            <a:bodyPr anchor="t" rtlCol="false" tIns="0" lIns="0" bIns="0" rIns="0"/>
            <a:lstStyle/>
            <a:p>
              <a:pPr algn="l">
                <a:lnSpc>
                  <a:spcPts val="4479"/>
                </a:lnSpc>
              </a:pPr>
              <a:r>
                <a:rPr lang="en-US" sz="3199" b="true">
                  <a:solidFill>
                    <a:srgbClr val="90113E"/>
                  </a:solidFill>
                  <a:latin typeface="Barlow Bold"/>
                  <a:ea typeface="Barlow Bold"/>
                  <a:cs typeface="Barlow Bold"/>
                  <a:sym typeface="Barlow Bold"/>
                </a:rPr>
                <a:t>Add team members Names and tiles</a:t>
              </a:r>
            </a:p>
          </p:txBody>
        </p:sp>
      </p:grpSp>
      <p:grpSp>
        <p:nvGrpSpPr>
          <p:cNvPr name="Group 8" id="8"/>
          <p:cNvGrpSpPr/>
          <p:nvPr/>
        </p:nvGrpSpPr>
        <p:grpSpPr>
          <a:xfrm rot="0">
            <a:off x="10365905" y="5058975"/>
            <a:ext cx="2637502" cy="2637492"/>
            <a:chOff x="0" y="0"/>
            <a:chExt cx="3516669" cy="3516655"/>
          </a:xfrm>
        </p:grpSpPr>
        <p:sp>
          <p:nvSpPr>
            <p:cNvPr name="Freeform 9" id="9"/>
            <p:cNvSpPr/>
            <p:nvPr/>
          </p:nvSpPr>
          <p:spPr>
            <a:xfrm flipH="false" flipV="false" rot="0">
              <a:off x="0" y="0"/>
              <a:ext cx="3516630" cy="3516630"/>
            </a:xfrm>
            <a:custGeom>
              <a:avLst/>
              <a:gdLst/>
              <a:ahLst/>
              <a:cxnLst/>
              <a:rect r="r" b="b" t="t" l="l"/>
              <a:pathLst>
                <a:path h="3516630" w="3516630">
                  <a:moveTo>
                    <a:pt x="3516630" y="1758315"/>
                  </a:moveTo>
                  <a:cubicBezTo>
                    <a:pt x="3516630" y="2729357"/>
                    <a:pt x="2729357" y="3516630"/>
                    <a:pt x="1758315" y="3516630"/>
                  </a:cubicBezTo>
                  <a:cubicBezTo>
                    <a:pt x="787273" y="3516630"/>
                    <a:pt x="0" y="2729357"/>
                    <a:pt x="0" y="1758315"/>
                  </a:cubicBezTo>
                  <a:cubicBezTo>
                    <a:pt x="0" y="787273"/>
                    <a:pt x="787273" y="0"/>
                    <a:pt x="1758315" y="0"/>
                  </a:cubicBezTo>
                  <a:cubicBezTo>
                    <a:pt x="2729357" y="0"/>
                    <a:pt x="3516630" y="787273"/>
                    <a:pt x="3516630" y="1758315"/>
                  </a:cubicBezTo>
                  <a:close/>
                </a:path>
              </a:pathLst>
            </a:custGeom>
            <a:blipFill>
              <a:blip r:embed="rId2"/>
              <a:stretch>
                <a:fillRect l="-24999" t="0" r="-25001" b="0"/>
              </a:stretch>
            </a:blipFill>
          </p:spPr>
        </p:sp>
      </p:grpSp>
      <p:grpSp>
        <p:nvGrpSpPr>
          <p:cNvPr name="Group 10" id="10"/>
          <p:cNvGrpSpPr/>
          <p:nvPr/>
        </p:nvGrpSpPr>
        <p:grpSpPr>
          <a:xfrm rot="0">
            <a:off x="13995995" y="5010959"/>
            <a:ext cx="2637502" cy="2637492"/>
            <a:chOff x="0" y="0"/>
            <a:chExt cx="3516669" cy="3516655"/>
          </a:xfrm>
        </p:grpSpPr>
        <p:sp>
          <p:nvSpPr>
            <p:cNvPr name="Freeform 11" id="11"/>
            <p:cNvSpPr/>
            <p:nvPr/>
          </p:nvSpPr>
          <p:spPr>
            <a:xfrm flipH="false" flipV="false" rot="0">
              <a:off x="0" y="0"/>
              <a:ext cx="3516630" cy="3516630"/>
            </a:xfrm>
            <a:custGeom>
              <a:avLst/>
              <a:gdLst/>
              <a:ahLst/>
              <a:cxnLst/>
              <a:rect r="r" b="b" t="t" l="l"/>
              <a:pathLst>
                <a:path h="3516630" w="3516630">
                  <a:moveTo>
                    <a:pt x="3516630" y="1758315"/>
                  </a:moveTo>
                  <a:cubicBezTo>
                    <a:pt x="3516630" y="2729357"/>
                    <a:pt x="2729357" y="3516630"/>
                    <a:pt x="1758315" y="3516630"/>
                  </a:cubicBezTo>
                  <a:cubicBezTo>
                    <a:pt x="787273" y="3516630"/>
                    <a:pt x="0" y="2729357"/>
                    <a:pt x="0" y="1758315"/>
                  </a:cubicBezTo>
                  <a:cubicBezTo>
                    <a:pt x="0" y="787273"/>
                    <a:pt x="787273" y="0"/>
                    <a:pt x="1758315" y="0"/>
                  </a:cubicBezTo>
                  <a:cubicBezTo>
                    <a:pt x="2729357" y="0"/>
                    <a:pt x="3516630" y="787273"/>
                    <a:pt x="3516630" y="1758315"/>
                  </a:cubicBezTo>
                  <a:close/>
                </a:path>
              </a:pathLst>
            </a:custGeom>
            <a:blipFill>
              <a:blip r:embed="rId3"/>
              <a:stretch>
                <a:fillRect l="0" t="-24962" r="-1" b="-24963"/>
              </a:stretch>
            </a:blipFill>
          </p:spPr>
        </p:sp>
      </p:grpSp>
      <p:grpSp>
        <p:nvGrpSpPr>
          <p:cNvPr name="Group 12" id="12"/>
          <p:cNvGrpSpPr/>
          <p:nvPr/>
        </p:nvGrpSpPr>
        <p:grpSpPr>
          <a:xfrm rot="0">
            <a:off x="3105725" y="5010959"/>
            <a:ext cx="2637502" cy="2637492"/>
            <a:chOff x="0" y="0"/>
            <a:chExt cx="3516669" cy="3516655"/>
          </a:xfrm>
        </p:grpSpPr>
        <p:sp>
          <p:nvSpPr>
            <p:cNvPr name="Freeform 13" id="13"/>
            <p:cNvSpPr/>
            <p:nvPr/>
          </p:nvSpPr>
          <p:spPr>
            <a:xfrm flipH="false" flipV="false" rot="0">
              <a:off x="0" y="0"/>
              <a:ext cx="3516630" cy="3516630"/>
            </a:xfrm>
            <a:custGeom>
              <a:avLst/>
              <a:gdLst/>
              <a:ahLst/>
              <a:cxnLst/>
              <a:rect r="r" b="b" t="t" l="l"/>
              <a:pathLst>
                <a:path h="3516630" w="3516630">
                  <a:moveTo>
                    <a:pt x="3516630" y="1758315"/>
                  </a:moveTo>
                  <a:cubicBezTo>
                    <a:pt x="3516630" y="2729357"/>
                    <a:pt x="2729357" y="3516630"/>
                    <a:pt x="1758315" y="3516630"/>
                  </a:cubicBezTo>
                  <a:cubicBezTo>
                    <a:pt x="787273" y="3516630"/>
                    <a:pt x="0" y="2729357"/>
                    <a:pt x="0" y="1758315"/>
                  </a:cubicBezTo>
                  <a:cubicBezTo>
                    <a:pt x="0" y="787273"/>
                    <a:pt x="787273" y="0"/>
                    <a:pt x="1758315" y="0"/>
                  </a:cubicBezTo>
                  <a:cubicBezTo>
                    <a:pt x="2729357" y="0"/>
                    <a:pt x="3516630" y="787273"/>
                    <a:pt x="3516630" y="1758315"/>
                  </a:cubicBezTo>
                  <a:close/>
                </a:path>
              </a:pathLst>
            </a:custGeom>
            <a:blipFill>
              <a:blip r:embed="rId4"/>
              <a:stretch>
                <a:fillRect l="-24963" t="0" r="-24964" b="0"/>
              </a:stretch>
            </a:blipFill>
          </p:spPr>
        </p:sp>
      </p:grpSp>
      <p:grpSp>
        <p:nvGrpSpPr>
          <p:cNvPr name="Group 14" id="14"/>
          <p:cNvGrpSpPr/>
          <p:nvPr/>
        </p:nvGrpSpPr>
        <p:grpSpPr>
          <a:xfrm rot="0">
            <a:off x="6735815" y="5010959"/>
            <a:ext cx="2637502" cy="2637492"/>
            <a:chOff x="0" y="0"/>
            <a:chExt cx="3516669" cy="3516655"/>
          </a:xfrm>
        </p:grpSpPr>
        <p:sp>
          <p:nvSpPr>
            <p:cNvPr name="Freeform 15" id="15"/>
            <p:cNvSpPr/>
            <p:nvPr/>
          </p:nvSpPr>
          <p:spPr>
            <a:xfrm flipH="false" flipV="false" rot="0">
              <a:off x="0" y="0"/>
              <a:ext cx="3516630" cy="3516630"/>
            </a:xfrm>
            <a:custGeom>
              <a:avLst/>
              <a:gdLst/>
              <a:ahLst/>
              <a:cxnLst/>
              <a:rect r="r" b="b" t="t" l="l"/>
              <a:pathLst>
                <a:path h="3516630" w="3516630">
                  <a:moveTo>
                    <a:pt x="3516630" y="1758315"/>
                  </a:moveTo>
                  <a:cubicBezTo>
                    <a:pt x="3516630" y="2729357"/>
                    <a:pt x="2729357" y="3516630"/>
                    <a:pt x="1758315" y="3516630"/>
                  </a:cubicBezTo>
                  <a:cubicBezTo>
                    <a:pt x="787273" y="3516630"/>
                    <a:pt x="0" y="2729357"/>
                    <a:pt x="0" y="1758315"/>
                  </a:cubicBezTo>
                  <a:cubicBezTo>
                    <a:pt x="0" y="787273"/>
                    <a:pt x="787273" y="0"/>
                    <a:pt x="1758315" y="0"/>
                  </a:cubicBezTo>
                  <a:cubicBezTo>
                    <a:pt x="2729357" y="0"/>
                    <a:pt x="3516630" y="787273"/>
                    <a:pt x="3516630" y="1758315"/>
                  </a:cubicBezTo>
                  <a:close/>
                </a:path>
              </a:pathLst>
            </a:custGeom>
            <a:blipFill>
              <a:blip r:embed="rId5"/>
              <a:stretch>
                <a:fillRect l="0" t="-25000" r="-1" b="-25001"/>
              </a:stretch>
            </a:blipFill>
          </p:spPr>
        </p:sp>
      </p:grpSp>
      <p:grpSp>
        <p:nvGrpSpPr>
          <p:cNvPr name="Group 16" id="16"/>
          <p:cNvGrpSpPr/>
          <p:nvPr/>
        </p:nvGrpSpPr>
        <p:grpSpPr>
          <a:xfrm rot="0">
            <a:off x="3209612" y="8203911"/>
            <a:ext cx="2429727" cy="626760"/>
            <a:chOff x="0" y="0"/>
            <a:chExt cx="3239636" cy="835680"/>
          </a:xfrm>
        </p:grpSpPr>
        <p:sp>
          <p:nvSpPr>
            <p:cNvPr name="Freeform 17" id="17"/>
            <p:cNvSpPr/>
            <p:nvPr/>
          </p:nvSpPr>
          <p:spPr>
            <a:xfrm flipH="false" flipV="false" rot="0">
              <a:off x="0" y="0"/>
              <a:ext cx="3239636" cy="835680"/>
            </a:xfrm>
            <a:custGeom>
              <a:avLst/>
              <a:gdLst/>
              <a:ahLst/>
              <a:cxnLst/>
              <a:rect r="r" b="b" t="t" l="l"/>
              <a:pathLst>
                <a:path h="835680" w="3239636">
                  <a:moveTo>
                    <a:pt x="0" y="0"/>
                  </a:moveTo>
                  <a:lnTo>
                    <a:pt x="3239636" y="0"/>
                  </a:lnTo>
                  <a:lnTo>
                    <a:pt x="3239636" y="835680"/>
                  </a:lnTo>
                  <a:lnTo>
                    <a:pt x="0" y="835680"/>
                  </a:lnTo>
                  <a:close/>
                </a:path>
              </a:pathLst>
            </a:custGeom>
            <a:solidFill>
              <a:srgbClr val="000000">
                <a:alpha val="0"/>
              </a:srgbClr>
            </a:solidFill>
          </p:spPr>
        </p:sp>
        <p:sp>
          <p:nvSpPr>
            <p:cNvPr name="TextBox 18" id="18"/>
            <p:cNvSpPr txBox="true"/>
            <p:nvPr/>
          </p:nvSpPr>
          <p:spPr>
            <a:xfrm>
              <a:off x="0" y="-19050"/>
              <a:ext cx="3239636" cy="854730"/>
            </a:xfrm>
            <a:prstGeom prst="rect">
              <a:avLst/>
            </a:prstGeom>
          </p:spPr>
          <p:txBody>
            <a:bodyPr anchor="t" rtlCol="false" tIns="0" lIns="0" bIns="0" rIns="0"/>
            <a:lstStyle/>
            <a:p>
              <a:pPr algn="ctr">
                <a:lnSpc>
                  <a:spcPts val="3600"/>
                </a:lnSpc>
              </a:pPr>
              <a:r>
                <a:rPr lang="en-US" sz="3000" b="true">
                  <a:solidFill>
                    <a:srgbClr val="90113E"/>
                  </a:solidFill>
                  <a:latin typeface="Barlow Bold"/>
                  <a:ea typeface="Barlow Bold"/>
                  <a:cs typeface="Barlow Bold"/>
                  <a:sym typeface="Barlow Bold"/>
                </a:rPr>
                <a:t> VERONICA</a:t>
              </a:r>
            </a:p>
          </p:txBody>
        </p:sp>
      </p:grpSp>
      <p:grpSp>
        <p:nvGrpSpPr>
          <p:cNvPr name="Group 19" id="19"/>
          <p:cNvGrpSpPr/>
          <p:nvPr/>
        </p:nvGrpSpPr>
        <p:grpSpPr>
          <a:xfrm rot="0">
            <a:off x="3209612" y="8830672"/>
            <a:ext cx="2429727" cy="500536"/>
            <a:chOff x="0" y="0"/>
            <a:chExt cx="3239636" cy="667381"/>
          </a:xfrm>
        </p:grpSpPr>
        <p:sp>
          <p:nvSpPr>
            <p:cNvPr name="Freeform 20" id="20"/>
            <p:cNvSpPr/>
            <p:nvPr/>
          </p:nvSpPr>
          <p:spPr>
            <a:xfrm flipH="false" flipV="false" rot="0">
              <a:off x="0" y="0"/>
              <a:ext cx="3239636" cy="667381"/>
            </a:xfrm>
            <a:custGeom>
              <a:avLst/>
              <a:gdLst/>
              <a:ahLst/>
              <a:cxnLst/>
              <a:rect r="r" b="b" t="t" l="l"/>
              <a:pathLst>
                <a:path h="667381" w="3239636">
                  <a:moveTo>
                    <a:pt x="0" y="0"/>
                  </a:moveTo>
                  <a:lnTo>
                    <a:pt x="3239636" y="0"/>
                  </a:lnTo>
                  <a:lnTo>
                    <a:pt x="3239636" y="667381"/>
                  </a:lnTo>
                  <a:lnTo>
                    <a:pt x="0" y="667381"/>
                  </a:lnTo>
                  <a:close/>
                </a:path>
              </a:pathLst>
            </a:custGeom>
            <a:solidFill>
              <a:srgbClr val="000000">
                <a:alpha val="0"/>
              </a:srgbClr>
            </a:solidFill>
          </p:spPr>
        </p:sp>
        <p:sp>
          <p:nvSpPr>
            <p:cNvPr name="TextBox 21" id="21"/>
            <p:cNvSpPr txBox="true"/>
            <p:nvPr/>
          </p:nvSpPr>
          <p:spPr>
            <a:xfrm>
              <a:off x="0" y="-57150"/>
              <a:ext cx="3239636" cy="724531"/>
            </a:xfrm>
            <a:prstGeom prst="rect">
              <a:avLst/>
            </a:prstGeom>
          </p:spPr>
          <p:txBody>
            <a:bodyPr anchor="t" rtlCol="false" tIns="0" lIns="0" bIns="0" rIns="0"/>
            <a:lstStyle/>
            <a:p>
              <a:pPr algn="ctr">
                <a:lnSpc>
                  <a:spcPts val="3779"/>
                </a:lnSpc>
              </a:pPr>
              <a:r>
                <a:rPr lang="en-US" sz="2699">
                  <a:solidFill>
                    <a:srgbClr val="90113E"/>
                  </a:solidFill>
                  <a:latin typeface="Barlow"/>
                  <a:ea typeface="Barlow"/>
                  <a:cs typeface="Barlow"/>
                  <a:sym typeface="Barlow"/>
                </a:rPr>
                <a:t>Project Manager</a:t>
              </a:r>
            </a:p>
          </p:txBody>
        </p:sp>
      </p:grpSp>
      <p:grpSp>
        <p:nvGrpSpPr>
          <p:cNvPr name="Group 22" id="22"/>
          <p:cNvGrpSpPr/>
          <p:nvPr/>
        </p:nvGrpSpPr>
        <p:grpSpPr>
          <a:xfrm rot="0">
            <a:off x="6839702" y="8203911"/>
            <a:ext cx="2429727" cy="626760"/>
            <a:chOff x="0" y="0"/>
            <a:chExt cx="3239636" cy="835680"/>
          </a:xfrm>
        </p:grpSpPr>
        <p:sp>
          <p:nvSpPr>
            <p:cNvPr name="Freeform 23" id="23"/>
            <p:cNvSpPr/>
            <p:nvPr/>
          </p:nvSpPr>
          <p:spPr>
            <a:xfrm flipH="false" flipV="false" rot="0">
              <a:off x="0" y="0"/>
              <a:ext cx="3239636" cy="835680"/>
            </a:xfrm>
            <a:custGeom>
              <a:avLst/>
              <a:gdLst/>
              <a:ahLst/>
              <a:cxnLst/>
              <a:rect r="r" b="b" t="t" l="l"/>
              <a:pathLst>
                <a:path h="835680" w="3239636">
                  <a:moveTo>
                    <a:pt x="0" y="0"/>
                  </a:moveTo>
                  <a:lnTo>
                    <a:pt x="3239636" y="0"/>
                  </a:lnTo>
                  <a:lnTo>
                    <a:pt x="3239636" y="835680"/>
                  </a:lnTo>
                  <a:lnTo>
                    <a:pt x="0" y="835680"/>
                  </a:lnTo>
                  <a:close/>
                </a:path>
              </a:pathLst>
            </a:custGeom>
            <a:solidFill>
              <a:srgbClr val="000000">
                <a:alpha val="0"/>
              </a:srgbClr>
            </a:solidFill>
          </p:spPr>
        </p:sp>
        <p:sp>
          <p:nvSpPr>
            <p:cNvPr name="TextBox 24" id="24"/>
            <p:cNvSpPr txBox="true"/>
            <p:nvPr/>
          </p:nvSpPr>
          <p:spPr>
            <a:xfrm>
              <a:off x="0" y="-19050"/>
              <a:ext cx="3239636" cy="854730"/>
            </a:xfrm>
            <a:prstGeom prst="rect">
              <a:avLst/>
            </a:prstGeom>
          </p:spPr>
          <p:txBody>
            <a:bodyPr anchor="t" rtlCol="false" tIns="0" lIns="0" bIns="0" rIns="0"/>
            <a:lstStyle/>
            <a:p>
              <a:pPr algn="ctr">
                <a:lnSpc>
                  <a:spcPts val="3600"/>
                </a:lnSpc>
              </a:pPr>
              <a:r>
                <a:rPr lang="en-US" sz="3000" b="true">
                  <a:solidFill>
                    <a:srgbClr val="90113E"/>
                  </a:solidFill>
                  <a:latin typeface="Barlow Bold"/>
                  <a:ea typeface="Barlow Bold"/>
                  <a:cs typeface="Barlow Bold"/>
                  <a:sym typeface="Barlow Bold"/>
                </a:rPr>
                <a:t>ENOCK</a:t>
              </a:r>
            </a:p>
          </p:txBody>
        </p:sp>
      </p:grpSp>
      <p:grpSp>
        <p:nvGrpSpPr>
          <p:cNvPr name="Group 25" id="25"/>
          <p:cNvGrpSpPr/>
          <p:nvPr/>
        </p:nvGrpSpPr>
        <p:grpSpPr>
          <a:xfrm rot="0">
            <a:off x="6839702" y="8830672"/>
            <a:ext cx="2429727" cy="1062176"/>
            <a:chOff x="0" y="0"/>
            <a:chExt cx="3239636" cy="1416235"/>
          </a:xfrm>
        </p:grpSpPr>
        <p:sp>
          <p:nvSpPr>
            <p:cNvPr name="Freeform 26" id="26"/>
            <p:cNvSpPr/>
            <p:nvPr/>
          </p:nvSpPr>
          <p:spPr>
            <a:xfrm flipH="false" flipV="false" rot="0">
              <a:off x="0" y="0"/>
              <a:ext cx="3239636" cy="1416235"/>
            </a:xfrm>
            <a:custGeom>
              <a:avLst/>
              <a:gdLst/>
              <a:ahLst/>
              <a:cxnLst/>
              <a:rect r="r" b="b" t="t" l="l"/>
              <a:pathLst>
                <a:path h="1416235" w="3239636">
                  <a:moveTo>
                    <a:pt x="0" y="0"/>
                  </a:moveTo>
                  <a:lnTo>
                    <a:pt x="3239636" y="0"/>
                  </a:lnTo>
                  <a:lnTo>
                    <a:pt x="3239636" y="1416235"/>
                  </a:lnTo>
                  <a:lnTo>
                    <a:pt x="0" y="1416235"/>
                  </a:lnTo>
                  <a:close/>
                </a:path>
              </a:pathLst>
            </a:custGeom>
            <a:solidFill>
              <a:srgbClr val="000000">
                <a:alpha val="0"/>
              </a:srgbClr>
            </a:solidFill>
          </p:spPr>
        </p:sp>
        <p:sp>
          <p:nvSpPr>
            <p:cNvPr name="TextBox 27" id="27"/>
            <p:cNvSpPr txBox="true"/>
            <p:nvPr/>
          </p:nvSpPr>
          <p:spPr>
            <a:xfrm>
              <a:off x="0" y="-57150"/>
              <a:ext cx="3239636" cy="1473385"/>
            </a:xfrm>
            <a:prstGeom prst="rect">
              <a:avLst/>
            </a:prstGeom>
          </p:spPr>
          <p:txBody>
            <a:bodyPr anchor="t" rtlCol="false" tIns="0" lIns="0" bIns="0" rIns="0"/>
            <a:lstStyle/>
            <a:p>
              <a:pPr algn="ctr">
                <a:lnSpc>
                  <a:spcPts val="3779"/>
                </a:lnSpc>
              </a:pPr>
              <a:r>
                <a:rPr lang="en-US" sz="2699">
                  <a:solidFill>
                    <a:srgbClr val="90113E"/>
                  </a:solidFill>
                  <a:latin typeface="Barlow"/>
                  <a:ea typeface="Barlow"/>
                  <a:cs typeface="Barlow"/>
                  <a:sym typeface="Barlow"/>
                </a:rPr>
                <a:t>Assistant Director</a:t>
              </a:r>
            </a:p>
          </p:txBody>
        </p:sp>
      </p:grpSp>
      <p:grpSp>
        <p:nvGrpSpPr>
          <p:cNvPr name="Group 28" id="28"/>
          <p:cNvGrpSpPr/>
          <p:nvPr/>
        </p:nvGrpSpPr>
        <p:grpSpPr>
          <a:xfrm rot="0">
            <a:off x="10469792" y="8203911"/>
            <a:ext cx="2429727" cy="626760"/>
            <a:chOff x="0" y="0"/>
            <a:chExt cx="3239636" cy="835680"/>
          </a:xfrm>
        </p:grpSpPr>
        <p:sp>
          <p:nvSpPr>
            <p:cNvPr name="Freeform 29" id="29"/>
            <p:cNvSpPr/>
            <p:nvPr/>
          </p:nvSpPr>
          <p:spPr>
            <a:xfrm flipH="false" flipV="false" rot="0">
              <a:off x="0" y="0"/>
              <a:ext cx="3239636" cy="835680"/>
            </a:xfrm>
            <a:custGeom>
              <a:avLst/>
              <a:gdLst/>
              <a:ahLst/>
              <a:cxnLst/>
              <a:rect r="r" b="b" t="t" l="l"/>
              <a:pathLst>
                <a:path h="835680" w="3239636">
                  <a:moveTo>
                    <a:pt x="0" y="0"/>
                  </a:moveTo>
                  <a:lnTo>
                    <a:pt x="3239636" y="0"/>
                  </a:lnTo>
                  <a:lnTo>
                    <a:pt x="3239636" y="835680"/>
                  </a:lnTo>
                  <a:lnTo>
                    <a:pt x="0" y="835680"/>
                  </a:lnTo>
                  <a:close/>
                </a:path>
              </a:pathLst>
            </a:custGeom>
            <a:solidFill>
              <a:srgbClr val="000000">
                <a:alpha val="0"/>
              </a:srgbClr>
            </a:solidFill>
          </p:spPr>
        </p:sp>
        <p:sp>
          <p:nvSpPr>
            <p:cNvPr name="TextBox 30" id="30"/>
            <p:cNvSpPr txBox="true"/>
            <p:nvPr/>
          </p:nvSpPr>
          <p:spPr>
            <a:xfrm>
              <a:off x="0" y="-19050"/>
              <a:ext cx="3239636" cy="854730"/>
            </a:xfrm>
            <a:prstGeom prst="rect">
              <a:avLst/>
            </a:prstGeom>
          </p:spPr>
          <p:txBody>
            <a:bodyPr anchor="t" rtlCol="false" tIns="0" lIns="0" bIns="0" rIns="0"/>
            <a:lstStyle/>
            <a:p>
              <a:pPr algn="ctr">
                <a:lnSpc>
                  <a:spcPts val="3600"/>
                </a:lnSpc>
              </a:pPr>
              <a:r>
                <a:rPr lang="en-US" sz="3000" b="true">
                  <a:solidFill>
                    <a:srgbClr val="90113E"/>
                  </a:solidFill>
                  <a:latin typeface="Barlow Bold"/>
                  <a:ea typeface="Barlow Bold"/>
                  <a:cs typeface="Barlow Bold"/>
                  <a:sym typeface="Barlow Bold"/>
                </a:rPr>
                <a:t> RAMADHAN</a:t>
              </a:r>
            </a:p>
          </p:txBody>
        </p:sp>
      </p:grpSp>
      <p:grpSp>
        <p:nvGrpSpPr>
          <p:cNvPr name="Group 31" id="31"/>
          <p:cNvGrpSpPr/>
          <p:nvPr/>
        </p:nvGrpSpPr>
        <p:grpSpPr>
          <a:xfrm rot="0">
            <a:off x="10469792" y="8830672"/>
            <a:ext cx="2429727" cy="1062176"/>
            <a:chOff x="0" y="0"/>
            <a:chExt cx="3239636" cy="1416235"/>
          </a:xfrm>
        </p:grpSpPr>
        <p:sp>
          <p:nvSpPr>
            <p:cNvPr name="Freeform 32" id="32"/>
            <p:cNvSpPr/>
            <p:nvPr/>
          </p:nvSpPr>
          <p:spPr>
            <a:xfrm flipH="false" flipV="false" rot="0">
              <a:off x="0" y="0"/>
              <a:ext cx="3239636" cy="1416235"/>
            </a:xfrm>
            <a:custGeom>
              <a:avLst/>
              <a:gdLst/>
              <a:ahLst/>
              <a:cxnLst/>
              <a:rect r="r" b="b" t="t" l="l"/>
              <a:pathLst>
                <a:path h="1416235" w="3239636">
                  <a:moveTo>
                    <a:pt x="0" y="0"/>
                  </a:moveTo>
                  <a:lnTo>
                    <a:pt x="3239636" y="0"/>
                  </a:lnTo>
                  <a:lnTo>
                    <a:pt x="3239636" y="1416235"/>
                  </a:lnTo>
                  <a:lnTo>
                    <a:pt x="0" y="1416235"/>
                  </a:lnTo>
                  <a:close/>
                </a:path>
              </a:pathLst>
            </a:custGeom>
            <a:solidFill>
              <a:srgbClr val="000000">
                <a:alpha val="0"/>
              </a:srgbClr>
            </a:solidFill>
          </p:spPr>
        </p:sp>
        <p:sp>
          <p:nvSpPr>
            <p:cNvPr name="TextBox 33" id="33"/>
            <p:cNvSpPr txBox="true"/>
            <p:nvPr/>
          </p:nvSpPr>
          <p:spPr>
            <a:xfrm>
              <a:off x="0" y="-57150"/>
              <a:ext cx="3239636" cy="1473385"/>
            </a:xfrm>
            <a:prstGeom prst="rect">
              <a:avLst/>
            </a:prstGeom>
          </p:spPr>
          <p:txBody>
            <a:bodyPr anchor="t" rtlCol="false" tIns="0" lIns="0" bIns="0" rIns="0"/>
            <a:lstStyle/>
            <a:p>
              <a:pPr algn="ctr">
                <a:lnSpc>
                  <a:spcPts val="3779"/>
                </a:lnSpc>
              </a:pPr>
              <a:r>
                <a:rPr lang="en-US" sz="2699">
                  <a:solidFill>
                    <a:srgbClr val="90113E"/>
                  </a:solidFill>
                  <a:latin typeface="Barlow"/>
                  <a:ea typeface="Barlow"/>
                  <a:cs typeface="Barlow"/>
                  <a:sym typeface="Barlow"/>
                </a:rPr>
                <a:t>Financial Architect</a:t>
              </a:r>
            </a:p>
          </p:txBody>
        </p:sp>
      </p:grpSp>
      <p:grpSp>
        <p:nvGrpSpPr>
          <p:cNvPr name="Group 34" id="34"/>
          <p:cNvGrpSpPr/>
          <p:nvPr/>
        </p:nvGrpSpPr>
        <p:grpSpPr>
          <a:xfrm rot="0">
            <a:off x="14099882" y="8203911"/>
            <a:ext cx="2429727" cy="626760"/>
            <a:chOff x="0" y="0"/>
            <a:chExt cx="3239636" cy="835680"/>
          </a:xfrm>
        </p:grpSpPr>
        <p:sp>
          <p:nvSpPr>
            <p:cNvPr name="Freeform 35" id="35"/>
            <p:cNvSpPr/>
            <p:nvPr/>
          </p:nvSpPr>
          <p:spPr>
            <a:xfrm flipH="false" flipV="false" rot="0">
              <a:off x="0" y="0"/>
              <a:ext cx="3239636" cy="835680"/>
            </a:xfrm>
            <a:custGeom>
              <a:avLst/>
              <a:gdLst/>
              <a:ahLst/>
              <a:cxnLst/>
              <a:rect r="r" b="b" t="t" l="l"/>
              <a:pathLst>
                <a:path h="835680" w="3239636">
                  <a:moveTo>
                    <a:pt x="0" y="0"/>
                  </a:moveTo>
                  <a:lnTo>
                    <a:pt x="3239636" y="0"/>
                  </a:lnTo>
                  <a:lnTo>
                    <a:pt x="3239636" y="835680"/>
                  </a:lnTo>
                  <a:lnTo>
                    <a:pt x="0" y="835680"/>
                  </a:lnTo>
                  <a:close/>
                </a:path>
              </a:pathLst>
            </a:custGeom>
            <a:solidFill>
              <a:srgbClr val="000000">
                <a:alpha val="0"/>
              </a:srgbClr>
            </a:solidFill>
          </p:spPr>
        </p:sp>
        <p:sp>
          <p:nvSpPr>
            <p:cNvPr name="TextBox 36" id="36"/>
            <p:cNvSpPr txBox="true"/>
            <p:nvPr/>
          </p:nvSpPr>
          <p:spPr>
            <a:xfrm>
              <a:off x="0" y="-19050"/>
              <a:ext cx="3239636" cy="854730"/>
            </a:xfrm>
            <a:prstGeom prst="rect">
              <a:avLst/>
            </a:prstGeom>
          </p:spPr>
          <p:txBody>
            <a:bodyPr anchor="t" rtlCol="false" tIns="0" lIns="0" bIns="0" rIns="0"/>
            <a:lstStyle/>
            <a:p>
              <a:pPr algn="ctr">
                <a:lnSpc>
                  <a:spcPts val="3600"/>
                </a:lnSpc>
              </a:pPr>
              <a:r>
                <a:rPr lang="en-US" sz="3000" b="true">
                  <a:solidFill>
                    <a:srgbClr val="90113E"/>
                  </a:solidFill>
                  <a:latin typeface="Barlow Bold"/>
                  <a:ea typeface="Barlow Bold"/>
                  <a:cs typeface="Barlow Bold"/>
                  <a:sym typeface="Barlow Bold"/>
                </a:rPr>
                <a:t> EMMANUEL</a:t>
              </a:r>
            </a:p>
          </p:txBody>
        </p:sp>
      </p:grpSp>
      <p:grpSp>
        <p:nvGrpSpPr>
          <p:cNvPr name="Group 37" id="37"/>
          <p:cNvGrpSpPr/>
          <p:nvPr/>
        </p:nvGrpSpPr>
        <p:grpSpPr>
          <a:xfrm rot="0">
            <a:off x="14099882" y="8830672"/>
            <a:ext cx="2429727" cy="531088"/>
            <a:chOff x="0" y="0"/>
            <a:chExt cx="3239636" cy="708118"/>
          </a:xfrm>
        </p:grpSpPr>
        <p:sp>
          <p:nvSpPr>
            <p:cNvPr name="Freeform 38" id="38"/>
            <p:cNvSpPr/>
            <p:nvPr/>
          </p:nvSpPr>
          <p:spPr>
            <a:xfrm flipH="false" flipV="false" rot="0">
              <a:off x="0" y="0"/>
              <a:ext cx="3239636" cy="708118"/>
            </a:xfrm>
            <a:custGeom>
              <a:avLst/>
              <a:gdLst/>
              <a:ahLst/>
              <a:cxnLst/>
              <a:rect r="r" b="b" t="t" l="l"/>
              <a:pathLst>
                <a:path h="708118" w="3239636">
                  <a:moveTo>
                    <a:pt x="0" y="0"/>
                  </a:moveTo>
                  <a:lnTo>
                    <a:pt x="3239636" y="0"/>
                  </a:lnTo>
                  <a:lnTo>
                    <a:pt x="3239636" y="708118"/>
                  </a:lnTo>
                  <a:lnTo>
                    <a:pt x="0" y="708118"/>
                  </a:lnTo>
                  <a:close/>
                </a:path>
              </a:pathLst>
            </a:custGeom>
            <a:solidFill>
              <a:srgbClr val="000000">
                <a:alpha val="0"/>
              </a:srgbClr>
            </a:solidFill>
          </p:spPr>
        </p:sp>
        <p:sp>
          <p:nvSpPr>
            <p:cNvPr name="TextBox 39" id="39"/>
            <p:cNvSpPr txBox="true"/>
            <p:nvPr/>
          </p:nvSpPr>
          <p:spPr>
            <a:xfrm>
              <a:off x="0" y="-57150"/>
              <a:ext cx="3239636" cy="765268"/>
            </a:xfrm>
            <a:prstGeom prst="rect">
              <a:avLst/>
            </a:prstGeom>
          </p:spPr>
          <p:txBody>
            <a:bodyPr anchor="t" rtlCol="false" tIns="0" lIns="0" bIns="0" rIns="0"/>
            <a:lstStyle/>
            <a:p>
              <a:pPr algn="ctr">
                <a:lnSpc>
                  <a:spcPts val="3779"/>
                </a:lnSpc>
              </a:pPr>
              <a:r>
                <a:rPr lang="en-US" sz="2699">
                  <a:solidFill>
                    <a:srgbClr val="90113E"/>
                  </a:solidFill>
                  <a:latin typeface="Barlow"/>
                  <a:ea typeface="Barlow"/>
                  <a:cs typeface="Barlow"/>
                  <a:sym typeface="Barlow"/>
                </a:rPr>
                <a:t>CEO</a:t>
              </a:r>
            </a:p>
          </p:txBody>
        </p:sp>
      </p:grpSp>
      <p:grpSp>
        <p:nvGrpSpPr>
          <p:cNvPr name="Group 40" id="40"/>
          <p:cNvGrpSpPr/>
          <p:nvPr/>
        </p:nvGrpSpPr>
        <p:grpSpPr>
          <a:xfrm rot="0">
            <a:off x="0" y="0"/>
            <a:ext cx="1902317" cy="10287000"/>
            <a:chOff x="0" y="0"/>
            <a:chExt cx="2536423" cy="13716000"/>
          </a:xfrm>
        </p:grpSpPr>
        <p:sp>
          <p:nvSpPr>
            <p:cNvPr name="Freeform 41" id="41"/>
            <p:cNvSpPr/>
            <p:nvPr/>
          </p:nvSpPr>
          <p:spPr>
            <a:xfrm flipH="false" flipV="false" rot="0">
              <a:off x="0" y="0"/>
              <a:ext cx="2536444" cy="13716000"/>
            </a:xfrm>
            <a:custGeom>
              <a:avLst/>
              <a:gdLst/>
              <a:ahLst/>
              <a:cxnLst/>
              <a:rect r="r" b="b" t="t" l="l"/>
              <a:pathLst>
                <a:path h="13716000" w="2536444">
                  <a:moveTo>
                    <a:pt x="0" y="0"/>
                  </a:moveTo>
                  <a:lnTo>
                    <a:pt x="2536444" y="0"/>
                  </a:lnTo>
                  <a:lnTo>
                    <a:pt x="2536444" y="13716000"/>
                  </a:lnTo>
                  <a:lnTo>
                    <a:pt x="0" y="13716000"/>
                  </a:lnTo>
                  <a:close/>
                </a:path>
              </a:pathLst>
            </a:custGeom>
            <a:solidFill>
              <a:srgbClr val="90113E"/>
            </a:solidFill>
          </p:spPr>
        </p:sp>
      </p:grpSp>
      <p:sp>
        <p:nvSpPr>
          <p:cNvPr name="Freeform 42" id="42"/>
          <p:cNvSpPr/>
          <p:nvPr/>
        </p:nvSpPr>
        <p:spPr>
          <a:xfrm flipH="false" flipV="false" rot="0">
            <a:off x="-1902317" y="-84320"/>
            <a:ext cx="3804634" cy="10455640"/>
          </a:xfrm>
          <a:custGeom>
            <a:avLst/>
            <a:gdLst/>
            <a:ahLst/>
            <a:cxnLst/>
            <a:rect r="r" b="b" t="t" l="l"/>
            <a:pathLst>
              <a:path h="10455640" w="3804634">
                <a:moveTo>
                  <a:pt x="0" y="0"/>
                </a:moveTo>
                <a:lnTo>
                  <a:pt x="3804634" y="0"/>
                </a:lnTo>
                <a:lnTo>
                  <a:pt x="3804634" y="10455640"/>
                </a:lnTo>
                <a:lnTo>
                  <a:pt x="0" y="10455640"/>
                </a:lnTo>
                <a:lnTo>
                  <a:pt x="0" y="0"/>
                </a:lnTo>
                <a:close/>
              </a:path>
            </a:pathLst>
          </a:custGeom>
          <a:blipFill>
            <a:blip r:embed="rId6">
              <a:extLst>
                <a:ext uri="{96DAC541-7B7A-43D3-8B79-37D633B846F1}">
                  <asvg:svgBlip xmlns:asvg="http://schemas.microsoft.com/office/drawing/2016/SVG/main" r:embed="rId7"/>
                </a:ext>
              </a:extLst>
            </a:blip>
            <a:stretch>
              <a:fillRect l="-87406" t="0" r="-87406"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4634" y="-84320"/>
            <a:ext cx="10455640" cy="10455640"/>
          </a:xfrm>
          <a:custGeom>
            <a:avLst/>
            <a:gdLst/>
            <a:ahLst/>
            <a:cxnLst/>
            <a:rect r="r" b="b" t="t" l="l"/>
            <a:pathLst>
              <a:path h="10455640" w="10455640">
                <a:moveTo>
                  <a:pt x="0" y="0"/>
                </a:moveTo>
                <a:lnTo>
                  <a:pt x="10455640" y="0"/>
                </a:lnTo>
                <a:lnTo>
                  <a:pt x="10455640" y="10455640"/>
                </a:lnTo>
                <a:lnTo>
                  <a:pt x="0" y="104556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044460" y="3830244"/>
            <a:ext cx="10199079" cy="2071688"/>
            <a:chOff x="0" y="0"/>
            <a:chExt cx="13598772" cy="2762250"/>
          </a:xfrm>
        </p:grpSpPr>
        <p:sp>
          <p:nvSpPr>
            <p:cNvPr name="Freeform 4" id="4"/>
            <p:cNvSpPr/>
            <p:nvPr/>
          </p:nvSpPr>
          <p:spPr>
            <a:xfrm flipH="false" flipV="false" rot="0">
              <a:off x="0" y="0"/>
              <a:ext cx="13598771" cy="2762250"/>
            </a:xfrm>
            <a:custGeom>
              <a:avLst/>
              <a:gdLst/>
              <a:ahLst/>
              <a:cxnLst/>
              <a:rect r="r" b="b" t="t" l="l"/>
              <a:pathLst>
                <a:path h="2762250" w="13598771">
                  <a:moveTo>
                    <a:pt x="0" y="0"/>
                  </a:moveTo>
                  <a:lnTo>
                    <a:pt x="13598771" y="0"/>
                  </a:lnTo>
                  <a:lnTo>
                    <a:pt x="13598771" y="2762250"/>
                  </a:lnTo>
                  <a:lnTo>
                    <a:pt x="0" y="2762250"/>
                  </a:lnTo>
                  <a:close/>
                </a:path>
              </a:pathLst>
            </a:custGeom>
            <a:solidFill>
              <a:srgbClr val="000000">
                <a:alpha val="0"/>
              </a:srgbClr>
            </a:solidFill>
          </p:spPr>
        </p:sp>
        <p:sp>
          <p:nvSpPr>
            <p:cNvPr name="TextBox 5" id="5"/>
            <p:cNvSpPr txBox="true"/>
            <p:nvPr/>
          </p:nvSpPr>
          <p:spPr>
            <a:xfrm>
              <a:off x="0" y="285750"/>
              <a:ext cx="13598772" cy="2476500"/>
            </a:xfrm>
            <a:prstGeom prst="rect">
              <a:avLst/>
            </a:prstGeom>
          </p:spPr>
          <p:txBody>
            <a:bodyPr anchor="t" rtlCol="false" tIns="0" lIns="0" bIns="0" rIns="0"/>
            <a:lstStyle/>
            <a:p>
              <a:pPr algn="ctr">
                <a:lnSpc>
                  <a:spcPts val="15000"/>
                </a:lnSpc>
              </a:pPr>
              <a:r>
                <a:rPr lang="en-US" sz="15000" b="true">
                  <a:solidFill>
                    <a:srgbClr val="0BB6BC"/>
                  </a:solidFill>
                  <a:latin typeface="Barlow Bold"/>
                  <a:ea typeface="Barlow Bold"/>
                  <a:cs typeface="Barlow Bold"/>
                  <a:sym typeface="Barlow Bold"/>
                </a:rPr>
                <a:t>Thank you!</a:t>
              </a:r>
            </a:p>
          </p:txBody>
        </p:sp>
      </p:grpSp>
      <p:grpSp>
        <p:nvGrpSpPr>
          <p:cNvPr name="Group 6" id="6"/>
          <p:cNvGrpSpPr/>
          <p:nvPr/>
        </p:nvGrpSpPr>
        <p:grpSpPr>
          <a:xfrm rot="0">
            <a:off x="4044460" y="6140367"/>
            <a:ext cx="9914307" cy="1308218"/>
            <a:chOff x="0" y="0"/>
            <a:chExt cx="13219076" cy="1744291"/>
          </a:xfrm>
        </p:grpSpPr>
        <p:sp>
          <p:nvSpPr>
            <p:cNvPr name="Freeform 7" id="7"/>
            <p:cNvSpPr/>
            <p:nvPr/>
          </p:nvSpPr>
          <p:spPr>
            <a:xfrm flipH="false" flipV="false" rot="0">
              <a:off x="0" y="0"/>
              <a:ext cx="13219075" cy="1744291"/>
            </a:xfrm>
            <a:custGeom>
              <a:avLst/>
              <a:gdLst/>
              <a:ahLst/>
              <a:cxnLst/>
              <a:rect r="r" b="b" t="t" l="l"/>
              <a:pathLst>
                <a:path h="1744291" w="13219075">
                  <a:moveTo>
                    <a:pt x="0" y="0"/>
                  </a:moveTo>
                  <a:lnTo>
                    <a:pt x="13219075" y="0"/>
                  </a:lnTo>
                  <a:lnTo>
                    <a:pt x="13219075" y="1744291"/>
                  </a:lnTo>
                  <a:lnTo>
                    <a:pt x="0" y="1744291"/>
                  </a:lnTo>
                  <a:close/>
                </a:path>
              </a:pathLst>
            </a:custGeom>
            <a:solidFill>
              <a:srgbClr val="000000">
                <a:alpha val="0"/>
              </a:srgbClr>
            </a:solidFill>
          </p:spPr>
        </p:sp>
        <p:sp>
          <p:nvSpPr>
            <p:cNvPr name="TextBox 8" id="8"/>
            <p:cNvSpPr txBox="true"/>
            <p:nvPr/>
          </p:nvSpPr>
          <p:spPr>
            <a:xfrm>
              <a:off x="0" y="-66675"/>
              <a:ext cx="13219076" cy="1810966"/>
            </a:xfrm>
            <a:prstGeom prst="rect">
              <a:avLst/>
            </a:prstGeom>
          </p:spPr>
          <p:txBody>
            <a:bodyPr anchor="t" rtlCol="false" tIns="0" lIns="0" bIns="0" rIns="0"/>
            <a:lstStyle/>
            <a:p>
              <a:pPr algn="ctr">
                <a:lnSpc>
                  <a:spcPts val="4478"/>
                </a:lnSpc>
              </a:pPr>
              <a:r>
                <a:rPr lang="en-US" sz="3198" b="true">
                  <a:solidFill>
                    <a:srgbClr val="000000"/>
                  </a:solidFill>
                  <a:latin typeface="Barlow Bold"/>
                  <a:ea typeface="Barlow Bold"/>
                  <a:cs typeface="Barlow Bold"/>
                  <a:sym typeface="Barlow Bold"/>
                </a:rPr>
                <a:t>PHONE: +254713442011</a:t>
              </a:r>
            </a:p>
            <a:p>
              <a:pPr algn="ctr">
                <a:lnSpc>
                  <a:spcPts val="4479"/>
                </a:lnSpc>
              </a:pPr>
              <a:r>
                <a:rPr lang="en-US" sz="3199" b="true">
                  <a:solidFill>
                    <a:srgbClr val="000000"/>
                  </a:solidFill>
                  <a:latin typeface="Barlow Bold"/>
                  <a:ea typeface="Barlow Bold"/>
                  <a:cs typeface="Barlow Bold"/>
                  <a:sym typeface="Barlow Bold"/>
                </a:rPr>
                <a:t>EMAIL: EMMANUELSAMUEL2523@GMAIL.COM</a:t>
              </a:r>
            </a:p>
          </p:txBody>
        </p:sp>
      </p:grpSp>
      <p:sp>
        <p:nvSpPr>
          <p:cNvPr name="Freeform 9" id="9"/>
          <p:cNvSpPr/>
          <p:nvPr/>
        </p:nvSpPr>
        <p:spPr>
          <a:xfrm flipH="false" flipV="false" rot="0">
            <a:off x="14892730" y="1028700"/>
            <a:ext cx="2793363" cy="1396681"/>
          </a:xfrm>
          <a:custGeom>
            <a:avLst/>
            <a:gdLst/>
            <a:ahLst/>
            <a:cxnLst/>
            <a:rect r="r" b="b" t="t" l="l"/>
            <a:pathLst>
              <a:path h="1396681" w="2793363">
                <a:moveTo>
                  <a:pt x="0" y="0"/>
                </a:moveTo>
                <a:lnTo>
                  <a:pt x="2793363" y="0"/>
                </a:lnTo>
                <a:lnTo>
                  <a:pt x="2793363" y="1396681"/>
                </a:lnTo>
                <a:lnTo>
                  <a:pt x="0" y="1396681"/>
                </a:lnTo>
                <a:lnTo>
                  <a:pt x="0" y="0"/>
                </a:lnTo>
                <a:close/>
              </a:path>
            </a:pathLst>
          </a:custGeom>
          <a:blipFill>
            <a:blip r:embed="rId4">
              <a:extLst>
                <a:ext uri="{96DAC541-7B7A-43D3-8B79-37D633B846F1}">
                  <asvg:svgBlip xmlns:asvg="http://schemas.microsoft.com/office/drawing/2016/SVG/main" r:embed="rId5"/>
                </a:ext>
              </a:extLst>
            </a:blip>
            <a:stretch>
              <a:fillRect l="0" t="-340" r="0" b="-340"/>
            </a:stretch>
          </a:blipFill>
        </p:spPr>
      </p:sp>
      <p:sp>
        <p:nvSpPr>
          <p:cNvPr name="Freeform 10" id="10"/>
          <p:cNvSpPr/>
          <p:nvPr/>
        </p:nvSpPr>
        <p:spPr>
          <a:xfrm flipH="true" flipV="false" rot="0">
            <a:off x="2825260" y="6798102"/>
            <a:ext cx="2438400" cy="2438400"/>
          </a:xfrm>
          <a:custGeom>
            <a:avLst/>
            <a:gdLst/>
            <a:ahLst/>
            <a:cxnLst/>
            <a:rect r="r" b="b" t="t" l="l"/>
            <a:pathLst>
              <a:path h="2438400" w="2438400">
                <a:moveTo>
                  <a:pt x="2438400" y="0"/>
                </a:moveTo>
                <a:lnTo>
                  <a:pt x="0" y="0"/>
                </a:lnTo>
                <a:lnTo>
                  <a:pt x="0" y="2438400"/>
                </a:lnTo>
                <a:lnTo>
                  <a:pt x="2438400" y="2438400"/>
                </a:lnTo>
                <a:lnTo>
                  <a:pt x="24384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629257" y="893789"/>
            <a:ext cx="1079292" cy="269823"/>
          </a:xfrm>
          <a:custGeom>
            <a:avLst/>
            <a:gdLst/>
            <a:ahLst/>
            <a:cxnLst/>
            <a:rect r="r" b="b" t="t" l="l"/>
            <a:pathLst>
              <a:path h="269823" w="1079292">
                <a:moveTo>
                  <a:pt x="0" y="0"/>
                </a:moveTo>
                <a:lnTo>
                  <a:pt x="1079292" y="0"/>
                </a:lnTo>
                <a:lnTo>
                  <a:pt x="1079292" y="269823"/>
                </a:lnTo>
                <a:lnTo>
                  <a:pt x="0" y="269823"/>
                </a:lnTo>
                <a:lnTo>
                  <a:pt x="0" y="0"/>
                </a:lnTo>
                <a:close/>
              </a:path>
            </a:pathLst>
          </a:custGeom>
          <a:blipFill>
            <a:blip r:embed="rId8">
              <a:extLst>
                <a:ext uri="{96DAC541-7B7A-43D3-8B79-37D633B846F1}">
                  <asvg:svgBlip xmlns:asvg="http://schemas.microsoft.com/office/drawing/2016/SVG/main" r:embed="rId9"/>
                </a:ext>
              </a:extLst>
            </a:blip>
            <a:stretch>
              <a:fillRect l="0" t="-877" r="0" b="-877"/>
            </a:stretch>
          </a:blipFill>
        </p:spPr>
      </p:sp>
      <p:grpSp>
        <p:nvGrpSpPr>
          <p:cNvPr name="Group 12" id="12"/>
          <p:cNvGrpSpPr/>
          <p:nvPr/>
        </p:nvGrpSpPr>
        <p:grpSpPr>
          <a:xfrm rot="0">
            <a:off x="17050357" y="9484941"/>
            <a:ext cx="798886" cy="347980"/>
            <a:chOff x="0" y="0"/>
            <a:chExt cx="1065181" cy="463973"/>
          </a:xfrm>
        </p:grpSpPr>
        <p:sp>
          <p:nvSpPr>
            <p:cNvPr name="Freeform 13" id="13"/>
            <p:cNvSpPr/>
            <p:nvPr/>
          </p:nvSpPr>
          <p:spPr>
            <a:xfrm flipH="false" flipV="false" rot="0">
              <a:off x="0" y="0"/>
              <a:ext cx="1065181" cy="463973"/>
            </a:xfrm>
            <a:custGeom>
              <a:avLst/>
              <a:gdLst/>
              <a:ahLst/>
              <a:cxnLst/>
              <a:rect r="r" b="b" t="t" l="l"/>
              <a:pathLst>
                <a:path h="463973" w="1065181">
                  <a:moveTo>
                    <a:pt x="0" y="0"/>
                  </a:moveTo>
                  <a:lnTo>
                    <a:pt x="1065181" y="0"/>
                  </a:lnTo>
                  <a:lnTo>
                    <a:pt x="1065181" y="463973"/>
                  </a:lnTo>
                  <a:lnTo>
                    <a:pt x="0" y="463973"/>
                  </a:lnTo>
                  <a:close/>
                </a:path>
              </a:pathLst>
            </a:custGeom>
            <a:solidFill>
              <a:srgbClr val="000000">
                <a:alpha val="0"/>
              </a:srgbClr>
            </a:solidFill>
          </p:spPr>
        </p:sp>
        <p:sp>
          <p:nvSpPr>
            <p:cNvPr name="TextBox 14" id="14"/>
            <p:cNvSpPr txBox="true"/>
            <p:nvPr/>
          </p:nvSpPr>
          <p:spPr>
            <a:xfrm>
              <a:off x="0" y="-19050"/>
              <a:ext cx="1065181" cy="483023"/>
            </a:xfrm>
            <a:prstGeom prst="rect">
              <a:avLst/>
            </a:prstGeom>
          </p:spPr>
          <p:txBody>
            <a:bodyPr anchor="t" rtlCol="false" tIns="0" lIns="0" bIns="0" rIns="0"/>
            <a:lstStyle/>
            <a:p>
              <a:pPr algn="r">
                <a:lnSpc>
                  <a:spcPts val="2749"/>
                </a:lnSpc>
              </a:pPr>
              <a:r>
                <a:rPr lang="en-US" sz="2199" b="true">
                  <a:solidFill>
                    <a:srgbClr val="000000"/>
                  </a:solidFill>
                  <a:latin typeface="Barlow Bold"/>
                  <a:ea typeface="Barlow Bold"/>
                  <a:cs typeface="Barlow Bold"/>
                  <a:sym typeface="Barlow Bold"/>
                </a:rPr>
                <a:t>17</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DAGmUCw8gfw</dc:identifier>
  <dcterms:modified xsi:type="dcterms:W3CDTF">2011-08-01T06:04:30Z</dcterms:modified>
  <cp:revision>1</cp:revision>
  <dc:title>SAMUEL EMMANUEL KIMARO PITCHDECK</dc:title>
</cp:coreProperties>
</file>